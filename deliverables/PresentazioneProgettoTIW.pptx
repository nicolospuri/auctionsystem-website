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8" r:id="rId7"/>
    <p:sldId id="269" r:id="rId8"/>
    <p:sldId id="261" r:id="rId9"/>
    <p:sldId id="262" r:id="rId10"/>
    <p:sldId id="263" r:id="rId11"/>
    <p:sldId id="264" r:id="rId12"/>
    <p:sldId id="266" r:id="rId13"/>
    <p:sldId id="270" r:id="rId14"/>
    <p:sldId id="271" r:id="rId15"/>
    <p:sldId id="272" r:id="rId16"/>
    <p:sldId id="273" r:id="rId17"/>
    <p:sldId id="274" r:id="rId18"/>
    <p:sldId id="275" r:id="rId19"/>
    <p:sldId id="276" r:id="rId20"/>
    <p:sldId id="301"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42"/>
    <p:restoredTop sz="94672"/>
  </p:normalViewPr>
  <p:slideViewPr>
    <p:cSldViewPr snapToGrid="0">
      <p:cViewPr varScale="1">
        <p:scale>
          <a:sx n="84" d="100"/>
          <a:sy n="84"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8/24/2025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006718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8/24/2025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022402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8/24/2025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843028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8/24/2025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342830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8/24/2025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256213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8/24/2025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1799576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8/24/2025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78516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8/24/2025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6758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8/24/2025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85214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8/24/2025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342373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8/24/2025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a:t>
            </a:fld>
            <a:endParaRPr lang="en-US"/>
          </a:p>
        </p:txBody>
      </p:sp>
    </p:spTree>
    <p:extLst>
      <p:ext uri="{BB962C8B-B14F-4D97-AF65-F5344CB8AC3E}">
        <p14:creationId xmlns:p14="http://schemas.microsoft.com/office/powerpoint/2010/main" val="2777738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8/24/2025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345221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otivo geometrico rosso astratto">
            <a:extLst>
              <a:ext uri="{FF2B5EF4-FFF2-40B4-BE49-F238E27FC236}">
                <a16:creationId xmlns:a16="http://schemas.microsoft.com/office/drawing/2014/main" id="{64CB6FD0-A550-234D-1E56-C2FAE5690D42}"/>
              </a:ext>
            </a:extLst>
          </p:cNvPr>
          <p:cNvPicPr>
            <a:picLocks noChangeAspect="1"/>
          </p:cNvPicPr>
          <p:nvPr/>
        </p:nvPicPr>
        <p:blipFill>
          <a:blip r:embed="rId2"/>
          <a:srcRect t="7865" b="7865"/>
          <a:stretch>
            <a:fillRect/>
          </a:stretch>
        </p:blipFill>
        <p:spPr>
          <a:xfrm>
            <a:off x="0" y="11"/>
            <a:ext cx="12192000" cy="6857989"/>
          </a:xfrm>
          <a:prstGeom prst="rect">
            <a:avLst/>
          </a:prstGeom>
        </p:spPr>
      </p:pic>
      <p:sp>
        <p:nvSpPr>
          <p:cNvPr id="25" name="Rectangle 24">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848C707-BBE9-F17E-3E17-71B7C823F339}"/>
              </a:ext>
            </a:extLst>
          </p:cNvPr>
          <p:cNvSpPr>
            <a:spLocks noGrp="1"/>
          </p:cNvSpPr>
          <p:nvPr>
            <p:ph type="ctrTitle"/>
          </p:nvPr>
        </p:nvSpPr>
        <p:spPr>
          <a:xfrm>
            <a:off x="1833541" y="990599"/>
            <a:ext cx="5619054" cy="4849091"/>
          </a:xfrm>
        </p:spPr>
        <p:txBody>
          <a:bodyPr anchor="ctr">
            <a:normAutofit/>
          </a:bodyPr>
          <a:lstStyle/>
          <a:p>
            <a:pPr algn="r"/>
            <a:r>
              <a:rPr lang="it-IT" dirty="0">
                <a:solidFill>
                  <a:srgbClr val="FFFFFF"/>
                </a:solidFill>
              </a:rPr>
              <a:t>Tecnologie informatiche per il web</a:t>
            </a:r>
          </a:p>
        </p:txBody>
      </p:sp>
      <p:sp>
        <p:nvSpPr>
          <p:cNvPr id="3" name="Sottotitolo 2">
            <a:extLst>
              <a:ext uri="{FF2B5EF4-FFF2-40B4-BE49-F238E27FC236}">
                <a16:creationId xmlns:a16="http://schemas.microsoft.com/office/drawing/2014/main" id="{43C94347-6031-6205-B342-6137423FB056}"/>
              </a:ext>
            </a:extLst>
          </p:cNvPr>
          <p:cNvSpPr>
            <a:spLocks noGrp="1"/>
          </p:cNvSpPr>
          <p:nvPr>
            <p:ph type="subTitle" idx="1"/>
          </p:nvPr>
        </p:nvSpPr>
        <p:spPr>
          <a:xfrm>
            <a:off x="8712864" y="1447799"/>
            <a:ext cx="3231479" cy="4076699"/>
          </a:xfrm>
        </p:spPr>
        <p:txBody>
          <a:bodyPr anchor="ctr">
            <a:normAutofit/>
          </a:bodyPr>
          <a:lstStyle/>
          <a:p>
            <a:r>
              <a:rPr lang="it-IT" b="1" dirty="0">
                <a:solidFill>
                  <a:srgbClr val="FFFFFF"/>
                </a:solidFill>
              </a:rPr>
              <a:t>Traccia 1</a:t>
            </a:r>
            <a:r>
              <a:rPr lang="it-IT" dirty="0">
                <a:solidFill>
                  <a:srgbClr val="FFFFFF"/>
                </a:solidFill>
              </a:rPr>
              <a:t>: Aste Online</a:t>
            </a:r>
          </a:p>
          <a:p>
            <a:endParaRPr lang="it-IT" dirty="0">
              <a:solidFill>
                <a:srgbClr val="FFFFFF"/>
              </a:solidFill>
            </a:endParaRPr>
          </a:p>
          <a:p>
            <a:r>
              <a:rPr lang="it-IT" b="1" dirty="0">
                <a:solidFill>
                  <a:srgbClr val="FFFFFF"/>
                </a:solidFill>
              </a:rPr>
              <a:t>Nicolò Spuri</a:t>
            </a:r>
          </a:p>
          <a:p>
            <a:r>
              <a:rPr lang="it-IT" b="1" dirty="0">
                <a:solidFill>
                  <a:srgbClr val="FFFFFF"/>
                </a:solidFill>
              </a:rPr>
              <a:t>Lorenzo Marc Baud</a:t>
            </a:r>
          </a:p>
          <a:p>
            <a:endParaRPr lang="it-IT" b="1" dirty="0">
              <a:solidFill>
                <a:srgbClr val="FFFFFF"/>
              </a:solidFill>
            </a:endParaRPr>
          </a:p>
          <a:p>
            <a:r>
              <a:rPr lang="it-IT" b="1" dirty="0">
                <a:solidFill>
                  <a:srgbClr val="FFFFFF"/>
                </a:solidFill>
              </a:rPr>
              <a:t>Professore: </a:t>
            </a:r>
            <a:r>
              <a:rPr lang="it-IT" dirty="0">
                <a:solidFill>
                  <a:srgbClr val="FFFFFF"/>
                </a:solidFill>
              </a:rPr>
              <a:t>Piero Fraternali</a:t>
            </a:r>
            <a:endParaRPr lang="it-IT" b="1" dirty="0">
              <a:solidFill>
                <a:srgbClr val="FFFFFF"/>
              </a:solidFill>
            </a:endParaRPr>
          </a:p>
        </p:txBody>
      </p:sp>
      <p:cxnSp>
        <p:nvCxnSpPr>
          <p:cNvPr id="27" name="Straight Connector 26">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pic>
        <p:nvPicPr>
          <p:cNvPr id="7" name="Immagine 6" descr="Immagine che contiene nero, oscurità&#10;&#10;Il contenuto generato dall'IA potrebbe non essere corretto.">
            <a:extLst>
              <a:ext uri="{FF2B5EF4-FFF2-40B4-BE49-F238E27FC236}">
                <a16:creationId xmlns:a16="http://schemas.microsoft.com/office/drawing/2014/main" id="{B87E0691-EBB3-EABD-BCF3-C80C120E024B}"/>
              </a:ext>
            </a:extLst>
          </p:cNvPr>
          <p:cNvPicPr>
            <a:picLocks noChangeAspect="1"/>
          </p:cNvPicPr>
          <p:nvPr/>
        </p:nvPicPr>
        <p:blipFill>
          <a:blip r:embed="rId3"/>
          <a:stretch>
            <a:fillRect/>
          </a:stretch>
        </p:blipFill>
        <p:spPr>
          <a:xfrm>
            <a:off x="498254" y="5171828"/>
            <a:ext cx="2007870" cy="2007870"/>
          </a:xfrm>
          <a:prstGeom prst="rect">
            <a:avLst/>
          </a:prstGeom>
        </p:spPr>
      </p:pic>
    </p:spTree>
    <p:extLst>
      <p:ext uri="{BB962C8B-B14F-4D97-AF65-F5344CB8AC3E}">
        <p14:creationId xmlns:p14="http://schemas.microsoft.com/office/powerpoint/2010/main" val="234230642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4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4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F848F8-3158-BF13-5B97-6ED29BC63BD6}"/>
              </a:ext>
            </a:extLst>
          </p:cNvPr>
          <p:cNvSpPr>
            <a:spLocks noGrp="1"/>
          </p:cNvSpPr>
          <p:nvPr>
            <p:ph type="title"/>
          </p:nvPr>
        </p:nvSpPr>
        <p:spPr>
          <a:xfrm>
            <a:off x="750367" y="877854"/>
            <a:ext cx="10691265" cy="1307592"/>
          </a:xfrm>
        </p:spPr>
        <p:txBody>
          <a:bodyPr/>
          <a:lstStyle/>
          <a:p>
            <a:pPr algn="ctr"/>
            <a:r>
              <a:rPr lang="it-IT" dirty="0"/>
              <a:t>Analisi dei dati</a:t>
            </a:r>
          </a:p>
        </p:txBody>
      </p:sp>
      <p:sp>
        <p:nvSpPr>
          <p:cNvPr id="3" name="Segnaposto contenuto 2">
            <a:extLst>
              <a:ext uri="{FF2B5EF4-FFF2-40B4-BE49-F238E27FC236}">
                <a16:creationId xmlns:a16="http://schemas.microsoft.com/office/drawing/2014/main" id="{7470D626-E102-382B-8F44-4D44E0A5EBD0}"/>
              </a:ext>
            </a:extLst>
          </p:cNvPr>
          <p:cNvSpPr>
            <a:spLocks noGrp="1"/>
          </p:cNvSpPr>
          <p:nvPr>
            <p:ph idx="1"/>
          </p:nvPr>
        </p:nvSpPr>
        <p:spPr>
          <a:xfrm>
            <a:off x="700633" y="1623060"/>
            <a:ext cx="10691265" cy="4446270"/>
          </a:xfrm>
        </p:spPr>
        <p:txBody>
          <a:bodyPr>
            <a:noAutofit/>
          </a:bodyPr>
          <a:lstStyle/>
          <a:p>
            <a:pPr marL="0" indent="0" algn="just">
              <a:buNone/>
            </a:pPr>
            <a:r>
              <a:rPr lang="it-IT" dirty="0">
                <a:solidFill>
                  <a:srgbClr val="000000"/>
                </a:solidFill>
                <a:effectLst/>
              </a:rPr>
              <a:t>Un’applicazione web consente la gestione di aste online. Gli utenti accedono tramite login e possono vendere e acquistare articoli all’asta. Ogni </a:t>
            </a:r>
            <a:r>
              <a:rPr lang="it-IT" b="1" dirty="0">
                <a:solidFill>
                  <a:srgbClr val="FF0000"/>
                </a:solidFill>
                <a:effectLst/>
              </a:rPr>
              <a:t>utente</a:t>
            </a:r>
            <a:r>
              <a:rPr lang="it-IT" dirty="0">
                <a:solidFill>
                  <a:srgbClr val="000000"/>
                </a:solidFill>
                <a:effectLst/>
              </a:rPr>
              <a:t> ha </a:t>
            </a:r>
            <a:r>
              <a:rPr lang="it-IT" b="1" dirty="0">
                <a:solidFill>
                  <a:srgbClr val="00B050"/>
                </a:solidFill>
                <a:effectLst/>
              </a:rPr>
              <a:t>username, password, nome, cognome e indirizzo</a:t>
            </a:r>
            <a:r>
              <a:rPr lang="it-IT" dirty="0">
                <a:solidFill>
                  <a:srgbClr val="000000"/>
                </a:solidFill>
                <a:effectLst/>
              </a:rPr>
              <a:t> (quest’ultimo è usato per la spedizione degli articoli comperati). Ogni </a:t>
            </a:r>
            <a:r>
              <a:rPr lang="it-IT" b="1" dirty="0">
                <a:solidFill>
                  <a:srgbClr val="FF0000"/>
                </a:solidFill>
                <a:effectLst/>
              </a:rPr>
              <a:t>articolo</a:t>
            </a:r>
            <a:r>
              <a:rPr lang="it-IT" dirty="0">
                <a:solidFill>
                  <a:srgbClr val="000000"/>
                </a:solidFill>
                <a:effectLst/>
              </a:rPr>
              <a:t> ha </a:t>
            </a:r>
            <a:r>
              <a:rPr lang="it-IT" b="1" dirty="0">
                <a:solidFill>
                  <a:srgbClr val="00B050"/>
                </a:solidFill>
                <a:effectLst/>
              </a:rPr>
              <a:t>codice, nome, descrizione, immagine e prezzo</a:t>
            </a:r>
            <a:r>
              <a:rPr lang="it-IT" dirty="0">
                <a:solidFill>
                  <a:srgbClr val="000000"/>
                </a:solidFill>
                <a:effectLst/>
              </a:rPr>
              <a:t>. La </a:t>
            </a:r>
            <a:r>
              <a:rPr lang="it-IT" dirty="0" err="1">
                <a:solidFill>
                  <a:srgbClr val="000000"/>
                </a:solidFill>
                <a:effectLst/>
              </a:rPr>
              <a:t>HOMEpage</a:t>
            </a:r>
            <a:r>
              <a:rPr lang="it-IT" dirty="0">
                <a:solidFill>
                  <a:srgbClr val="000000"/>
                </a:solidFill>
                <a:effectLst/>
              </a:rPr>
              <a:t> contiene due link, uno per accedere alla pagina VENDO e uno per accedere alla pagina ACQUISTO. La pagina VENDO mostra una lista delle aste create dall’utente e non ancora chiuse, una lista delle aste da lui create e chiuse e due </a:t>
            </a:r>
            <a:r>
              <a:rPr lang="it-IT" dirty="0" err="1">
                <a:solidFill>
                  <a:srgbClr val="000000"/>
                </a:solidFill>
                <a:effectLst/>
              </a:rPr>
              <a:t>form</a:t>
            </a:r>
            <a:r>
              <a:rPr lang="it-IT" dirty="0">
                <a:solidFill>
                  <a:srgbClr val="000000"/>
                </a:solidFill>
                <a:effectLst/>
              </a:rPr>
              <a:t>, uno per creare un nuovo articolo e uno per creare una nuova asta per vendere gli articoli dell’utente. </a:t>
            </a:r>
            <a:r>
              <a:rPr lang="it-IT" dirty="0" err="1">
                <a:solidFill>
                  <a:srgbClr val="000000"/>
                </a:solidFill>
                <a:effectLst/>
              </a:rPr>
              <a:t>ll</a:t>
            </a:r>
            <a:r>
              <a:rPr lang="it-IT" dirty="0">
                <a:solidFill>
                  <a:srgbClr val="000000"/>
                </a:solidFill>
                <a:effectLst/>
              </a:rPr>
              <a:t> </a:t>
            </a:r>
            <a:r>
              <a:rPr lang="it-IT" dirty="0" err="1">
                <a:solidFill>
                  <a:srgbClr val="000000"/>
                </a:solidFill>
                <a:effectLst/>
              </a:rPr>
              <a:t>prim</a:t>
            </a:r>
            <a:r>
              <a:rPr lang="it-IT" dirty="0">
                <a:solidFill>
                  <a:srgbClr val="000000"/>
                </a:solidFill>
                <a:effectLst/>
              </a:rPr>
              <a:t> </a:t>
            </a:r>
            <a:r>
              <a:rPr lang="it-IT" dirty="0" err="1">
                <a:solidFill>
                  <a:srgbClr val="000000"/>
                </a:solidFill>
                <a:effectLst/>
              </a:rPr>
              <a:t>form</a:t>
            </a:r>
            <a:r>
              <a:rPr lang="it-IT" dirty="0">
                <a:solidFill>
                  <a:srgbClr val="000000"/>
                </a:solidFill>
                <a:effectLst/>
              </a:rPr>
              <a:t> consente di inserire nel database un articolo con tutti i suoi dati, che sono obbligatori. Il secondo </a:t>
            </a:r>
            <a:r>
              <a:rPr lang="it-IT" dirty="0" err="1">
                <a:solidFill>
                  <a:srgbClr val="000000"/>
                </a:solidFill>
                <a:effectLst/>
              </a:rPr>
              <a:t>form</a:t>
            </a:r>
            <a:r>
              <a:rPr lang="it-IT" dirty="0">
                <a:solidFill>
                  <a:srgbClr val="000000"/>
                </a:solidFill>
              </a:rPr>
              <a:t> </a:t>
            </a:r>
            <a:r>
              <a:rPr lang="it-IT" dirty="0">
                <a:solidFill>
                  <a:srgbClr val="000000"/>
                </a:solidFill>
                <a:effectLst/>
              </a:rPr>
              <a:t>mostra l'elenco degli articoli presenti nel database e disponibili per la vendita e dà la possibilità di selezionarne più di uno per creare un’asta che li comprende. Un’</a:t>
            </a:r>
            <a:r>
              <a:rPr lang="it-IT" b="1" dirty="0">
                <a:solidFill>
                  <a:srgbClr val="FF0000"/>
                </a:solidFill>
                <a:effectLst/>
              </a:rPr>
              <a:t>asta</a:t>
            </a:r>
            <a:r>
              <a:rPr lang="it-IT" dirty="0">
                <a:solidFill>
                  <a:srgbClr val="000000"/>
                </a:solidFill>
                <a:effectLst/>
              </a:rPr>
              <a:t> </a:t>
            </a:r>
            <a:r>
              <a:rPr lang="it-IT" b="1" dirty="0">
                <a:solidFill>
                  <a:srgbClr val="0070C0"/>
                </a:solidFill>
                <a:effectLst/>
              </a:rPr>
              <a:t>è formata </a:t>
            </a:r>
            <a:r>
              <a:rPr lang="it-IT" dirty="0">
                <a:effectLst/>
              </a:rPr>
              <a:t>da uno o più </a:t>
            </a:r>
            <a:r>
              <a:rPr lang="it-IT" b="1" dirty="0">
                <a:solidFill>
                  <a:srgbClr val="00B050"/>
                </a:solidFill>
                <a:effectLst/>
              </a:rPr>
              <a:t>articoli</a:t>
            </a:r>
            <a:r>
              <a:rPr lang="it-IT" b="1" dirty="0">
                <a:solidFill>
                  <a:srgbClr val="00B050"/>
                </a:solidFill>
              </a:rPr>
              <a:t> </a:t>
            </a:r>
            <a:r>
              <a:rPr lang="it-IT" b="1" dirty="0">
                <a:solidFill>
                  <a:srgbClr val="00B050"/>
                </a:solidFill>
                <a:effectLst/>
              </a:rPr>
              <a:t>messi in vendita, il prezzo iniziale dell’insieme di articoli, il rialzo minimo</a:t>
            </a:r>
            <a:r>
              <a:rPr lang="it-IT" dirty="0">
                <a:solidFill>
                  <a:srgbClr val="000000"/>
                </a:solidFill>
                <a:effectLst/>
              </a:rPr>
              <a:t> di ogni offerta (espresso come un numero intero di euro) e una </a:t>
            </a:r>
            <a:r>
              <a:rPr lang="it-IT" b="1" dirty="0">
                <a:solidFill>
                  <a:srgbClr val="00B050"/>
                </a:solidFill>
                <a:effectLst/>
              </a:rPr>
              <a:t>scadenza</a:t>
            </a:r>
            <a:r>
              <a:rPr lang="it-IT" dirty="0">
                <a:solidFill>
                  <a:srgbClr val="000000"/>
                </a:solidFill>
                <a:effectLst/>
              </a:rPr>
              <a:t> (data e ora, es. 19-04-2021 alle 24:00).</a:t>
            </a:r>
            <a:endParaRPr lang="it-IT" dirty="0"/>
          </a:p>
        </p:txBody>
      </p:sp>
      <p:sp>
        <p:nvSpPr>
          <p:cNvPr id="4" name="CasellaDiTesto 3">
            <a:extLst>
              <a:ext uri="{FF2B5EF4-FFF2-40B4-BE49-F238E27FC236}">
                <a16:creationId xmlns:a16="http://schemas.microsoft.com/office/drawing/2014/main" id="{6650A98F-080A-B0D6-BDF0-590F3BA86CF2}"/>
              </a:ext>
            </a:extLst>
          </p:cNvPr>
          <p:cNvSpPr txBox="1"/>
          <p:nvPr/>
        </p:nvSpPr>
        <p:spPr>
          <a:xfrm>
            <a:off x="700633" y="6252150"/>
            <a:ext cx="3865289" cy="400110"/>
          </a:xfrm>
          <a:prstGeom prst="rect">
            <a:avLst/>
          </a:prstGeom>
          <a:noFill/>
        </p:spPr>
        <p:txBody>
          <a:bodyPr wrap="none" rtlCol="0">
            <a:spAutoFit/>
          </a:bodyPr>
          <a:lstStyle/>
          <a:p>
            <a:r>
              <a:rPr lang="it-IT" sz="2000" b="1" dirty="0" err="1">
                <a:solidFill>
                  <a:srgbClr val="FF0000"/>
                </a:solidFill>
              </a:rPr>
              <a:t>Entities</a:t>
            </a:r>
            <a:r>
              <a:rPr lang="it-IT" sz="2000" b="1" dirty="0"/>
              <a:t>, </a:t>
            </a:r>
            <a:r>
              <a:rPr lang="it-IT" sz="2000" b="1" dirty="0" err="1">
                <a:solidFill>
                  <a:srgbClr val="00B050"/>
                </a:solidFill>
              </a:rPr>
              <a:t>attributes</a:t>
            </a:r>
            <a:r>
              <a:rPr lang="it-IT" sz="2000" b="1" dirty="0"/>
              <a:t>, </a:t>
            </a:r>
            <a:r>
              <a:rPr lang="it-IT" sz="2000" b="1" dirty="0" err="1">
                <a:solidFill>
                  <a:srgbClr val="0070C0"/>
                </a:solidFill>
              </a:rPr>
              <a:t>relationships</a:t>
            </a:r>
            <a:endParaRPr lang="it-IT" sz="2000" b="1" dirty="0">
              <a:solidFill>
                <a:srgbClr val="0070C0"/>
              </a:solidFill>
            </a:endParaRPr>
          </a:p>
        </p:txBody>
      </p:sp>
    </p:spTree>
    <p:extLst>
      <p:ext uri="{BB962C8B-B14F-4D97-AF65-F5344CB8AC3E}">
        <p14:creationId xmlns:p14="http://schemas.microsoft.com/office/powerpoint/2010/main" val="1675089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14D54F63-4782-0FEE-3101-BA1F31995533}"/>
              </a:ext>
            </a:extLst>
          </p:cNvPr>
          <p:cNvSpPr>
            <a:spLocks noGrp="1"/>
          </p:cNvSpPr>
          <p:nvPr>
            <p:ph idx="1"/>
          </p:nvPr>
        </p:nvSpPr>
        <p:spPr>
          <a:xfrm>
            <a:off x="700088" y="1165860"/>
            <a:ext cx="10691812" cy="4796790"/>
          </a:xfrm>
        </p:spPr>
        <p:txBody>
          <a:bodyPr>
            <a:noAutofit/>
          </a:bodyPr>
          <a:lstStyle/>
          <a:p>
            <a:pPr marL="0" indent="0" algn="just">
              <a:buNone/>
            </a:pPr>
            <a:r>
              <a:rPr lang="it-IT" dirty="0">
                <a:solidFill>
                  <a:srgbClr val="000000"/>
                </a:solidFill>
                <a:effectLst/>
              </a:rPr>
              <a:t>Il prezzo iniziale dell’asta è ottenuto come somma del prezzo degli articoli compresi nell’offerta. Lo stesso articolo non può essere incluso in aste diverse. Una volta venduto, un articolo non deve essere più disponibile per l’inserimento in ulteriori aste. La lista delle aste nella pagina VENDO è ordinata per </a:t>
            </a:r>
            <a:r>
              <a:rPr lang="it-IT" dirty="0" err="1">
                <a:solidFill>
                  <a:srgbClr val="000000"/>
                </a:solidFill>
                <a:effectLst/>
              </a:rPr>
              <a:t>data+ora</a:t>
            </a:r>
            <a:r>
              <a:rPr lang="it-IT" dirty="0">
                <a:solidFill>
                  <a:srgbClr val="000000"/>
                </a:solidFill>
                <a:effectLst/>
              </a:rPr>
              <a:t> crescente. L’elenco riporta: codice e nome degli articoli compresi nell’asta, offerta massima, tempo mancante (numero di giorni e ore) tra il momento (data ora) del login e la data e ora di chiusura dell’asta. Cliccando su un’asta nell’elenco compare una pagina DETTAGLIO ASTA che riporta per un’asta aperta tutti i dati dell’asta e la lista delle offerte (nome utente, prezzo offerto, data e ora dell’offerta) ordinata per </a:t>
            </a:r>
            <a:r>
              <a:rPr lang="it-IT" dirty="0" err="1">
                <a:solidFill>
                  <a:srgbClr val="000000"/>
                </a:solidFill>
                <a:effectLst/>
              </a:rPr>
              <a:t>data+ora</a:t>
            </a:r>
            <a:r>
              <a:rPr lang="it-IT" dirty="0">
                <a:solidFill>
                  <a:srgbClr val="000000"/>
                </a:solidFill>
                <a:effectLst/>
              </a:rPr>
              <a:t> decrescente. Un bottone CHIUDI permette all’utente di chiudere l’asta se è giunta l’ora della scadenza (si ignori il caso di aste scadute ma non chiuse dall’utente e non ci si occupi della chiusura automatica di aste dopo la scadenza). Se l’asta è chiusa, la pagina riporta tutti i dati dell’asta, il nome dell’aggiudicatario, il prezzo finale e l’indirizzo (fisso) di spedizione dell’utente. La pagina ACQUISTO contiene una </a:t>
            </a:r>
            <a:r>
              <a:rPr lang="it-IT" dirty="0" err="1">
                <a:solidFill>
                  <a:srgbClr val="000000"/>
                </a:solidFill>
                <a:effectLst/>
              </a:rPr>
              <a:t>form</a:t>
            </a:r>
            <a:r>
              <a:rPr lang="it-IT" dirty="0">
                <a:solidFill>
                  <a:srgbClr val="000000"/>
                </a:solidFill>
                <a:effectLst/>
              </a:rPr>
              <a:t> di ricerca per parola chiave.</a:t>
            </a:r>
            <a:endParaRPr lang="it-IT" dirty="0"/>
          </a:p>
        </p:txBody>
      </p:sp>
      <p:sp>
        <p:nvSpPr>
          <p:cNvPr id="6" name="CasellaDiTesto 5">
            <a:extLst>
              <a:ext uri="{FF2B5EF4-FFF2-40B4-BE49-F238E27FC236}">
                <a16:creationId xmlns:a16="http://schemas.microsoft.com/office/drawing/2014/main" id="{9F5E4315-9BBB-035A-B542-F36FF7C8E298}"/>
              </a:ext>
            </a:extLst>
          </p:cNvPr>
          <p:cNvSpPr txBox="1"/>
          <p:nvPr/>
        </p:nvSpPr>
        <p:spPr>
          <a:xfrm>
            <a:off x="700633" y="6252150"/>
            <a:ext cx="3865289" cy="400110"/>
          </a:xfrm>
          <a:prstGeom prst="rect">
            <a:avLst/>
          </a:prstGeom>
          <a:noFill/>
        </p:spPr>
        <p:txBody>
          <a:bodyPr wrap="none" rtlCol="0">
            <a:spAutoFit/>
          </a:bodyPr>
          <a:lstStyle/>
          <a:p>
            <a:r>
              <a:rPr lang="it-IT" sz="2000" b="1" dirty="0" err="1">
                <a:solidFill>
                  <a:srgbClr val="FF0000"/>
                </a:solidFill>
              </a:rPr>
              <a:t>Entities</a:t>
            </a:r>
            <a:r>
              <a:rPr lang="it-IT" sz="2000" b="1" dirty="0"/>
              <a:t>, </a:t>
            </a:r>
            <a:r>
              <a:rPr lang="it-IT" sz="2000" b="1" dirty="0" err="1">
                <a:solidFill>
                  <a:srgbClr val="00B050"/>
                </a:solidFill>
              </a:rPr>
              <a:t>attributes</a:t>
            </a:r>
            <a:r>
              <a:rPr lang="it-IT" sz="2000" b="1" dirty="0"/>
              <a:t>, </a:t>
            </a:r>
            <a:r>
              <a:rPr lang="it-IT" sz="2000" b="1" dirty="0" err="1">
                <a:solidFill>
                  <a:srgbClr val="0070C0"/>
                </a:solidFill>
              </a:rPr>
              <a:t>relationships</a:t>
            </a:r>
            <a:endParaRPr lang="it-IT" sz="2000" b="1" dirty="0">
              <a:solidFill>
                <a:srgbClr val="0070C0"/>
              </a:solidFill>
            </a:endParaRPr>
          </a:p>
        </p:txBody>
      </p:sp>
    </p:spTree>
    <p:extLst>
      <p:ext uri="{BB962C8B-B14F-4D97-AF65-F5344CB8AC3E}">
        <p14:creationId xmlns:p14="http://schemas.microsoft.com/office/powerpoint/2010/main" val="97380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69ABF3D7-38F2-52AA-2192-66F1D661F6A2}"/>
              </a:ext>
            </a:extLst>
          </p:cNvPr>
          <p:cNvSpPr>
            <a:spLocks noGrp="1"/>
          </p:cNvSpPr>
          <p:nvPr>
            <p:ph idx="1"/>
          </p:nvPr>
        </p:nvSpPr>
        <p:spPr>
          <a:xfrm>
            <a:off x="700088" y="1634490"/>
            <a:ext cx="10691812" cy="4328160"/>
          </a:xfrm>
        </p:spPr>
        <p:txBody>
          <a:bodyPr>
            <a:noAutofit/>
          </a:bodyPr>
          <a:lstStyle/>
          <a:p>
            <a:pPr marL="0" indent="0" algn="just">
              <a:buNone/>
            </a:pPr>
            <a:r>
              <a:rPr lang="it-IT" dirty="0">
                <a:solidFill>
                  <a:srgbClr val="000000"/>
                </a:solidFill>
                <a:effectLst/>
              </a:rPr>
              <a:t>Quando l’acquirente invia una parola chiave la pagina ACQUISTO è aggiornata e mostra un elenco di aste aperte (la cui scadenza è posteriore alla data e ora dell’invio) per cui la parola chiave compare nel nome o nella descrizione di almeno uno degli articoli dell’asta. La lista è ordinata in modo decrescente in base al tempo (numero di giorni e ore) mancante alla chiusura. Cliccando su un’asta aperta compare la pagina OFFERTA che mostra i dati degli articoli, l’elenco delle </a:t>
            </a:r>
            <a:r>
              <a:rPr lang="it-IT" b="1" dirty="0">
                <a:solidFill>
                  <a:srgbClr val="FF0000"/>
                </a:solidFill>
                <a:effectLst/>
              </a:rPr>
              <a:t>offerte</a:t>
            </a:r>
            <a:r>
              <a:rPr lang="it-IT" dirty="0">
                <a:solidFill>
                  <a:srgbClr val="000000"/>
                </a:solidFill>
                <a:effectLst/>
              </a:rPr>
              <a:t> pervenute in ordine di </a:t>
            </a:r>
            <a:r>
              <a:rPr lang="it-IT" dirty="0" err="1">
                <a:solidFill>
                  <a:srgbClr val="000000"/>
                </a:solidFill>
                <a:effectLst/>
              </a:rPr>
              <a:t>data+ora</a:t>
            </a:r>
            <a:r>
              <a:rPr lang="it-IT" dirty="0">
                <a:solidFill>
                  <a:srgbClr val="000000"/>
                </a:solidFill>
                <a:effectLst/>
              </a:rPr>
              <a:t> decrescente e un campo di input per inserire la propria offerta, che deve essere superiore all’offerta massima corrente di un importo pari almeno al rialzo minimo. Dopo l’invio dell’offerta la pagina OFFERTA mostra l’elenco delle offerte aggiornate. La pagina ACQUISTO contiene anche un elenco delle offerte aggiudicate all’utente con i dati degli articoli e il prezzo finale.</a:t>
            </a:r>
          </a:p>
          <a:p>
            <a:pPr marL="0" indent="0" algn="just">
              <a:buNone/>
            </a:pPr>
            <a:endParaRPr lang="it-IT" dirty="0"/>
          </a:p>
        </p:txBody>
      </p:sp>
      <p:sp>
        <p:nvSpPr>
          <p:cNvPr id="6" name="CasellaDiTesto 5">
            <a:extLst>
              <a:ext uri="{FF2B5EF4-FFF2-40B4-BE49-F238E27FC236}">
                <a16:creationId xmlns:a16="http://schemas.microsoft.com/office/drawing/2014/main" id="{C38F1E2E-7AC3-A666-87FD-EF4F90B77824}"/>
              </a:ext>
            </a:extLst>
          </p:cNvPr>
          <p:cNvSpPr txBox="1"/>
          <p:nvPr/>
        </p:nvSpPr>
        <p:spPr>
          <a:xfrm>
            <a:off x="1794510" y="1028700"/>
            <a:ext cx="184731" cy="369332"/>
          </a:xfrm>
          <a:prstGeom prst="rect">
            <a:avLst/>
          </a:prstGeom>
          <a:noFill/>
        </p:spPr>
        <p:txBody>
          <a:bodyPr wrap="none" rtlCol="0">
            <a:spAutoFit/>
          </a:bodyPr>
          <a:lstStyle/>
          <a:p>
            <a:endParaRPr lang="it-IT" dirty="0"/>
          </a:p>
        </p:txBody>
      </p:sp>
      <p:sp>
        <p:nvSpPr>
          <p:cNvPr id="7" name="CasellaDiTesto 6">
            <a:extLst>
              <a:ext uri="{FF2B5EF4-FFF2-40B4-BE49-F238E27FC236}">
                <a16:creationId xmlns:a16="http://schemas.microsoft.com/office/drawing/2014/main" id="{A4DED0D4-59E8-EB93-D4C2-51A9E6A35AEA}"/>
              </a:ext>
            </a:extLst>
          </p:cNvPr>
          <p:cNvSpPr txBox="1"/>
          <p:nvPr/>
        </p:nvSpPr>
        <p:spPr>
          <a:xfrm>
            <a:off x="857250" y="937260"/>
            <a:ext cx="184731" cy="369332"/>
          </a:xfrm>
          <a:prstGeom prst="rect">
            <a:avLst/>
          </a:prstGeom>
          <a:noFill/>
        </p:spPr>
        <p:txBody>
          <a:bodyPr wrap="none" rtlCol="0">
            <a:spAutoFit/>
          </a:bodyPr>
          <a:lstStyle/>
          <a:p>
            <a:endParaRPr lang="it-IT" dirty="0"/>
          </a:p>
        </p:txBody>
      </p:sp>
      <p:sp>
        <p:nvSpPr>
          <p:cNvPr id="11" name="CasellaDiTesto 10">
            <a:extLst>
              <a:ext uri="{FF2B5EF4-FFF2-40B4-BE49-F238E27FC236}">
                <a16:creationId xmlns:a16="http://schemas.microsoft.com/office/drawing/2014/main" id="{9D765ECA-6A9A-AF5A-D7C1-411337FF504B}"/>
              </a:ext>
            </a:extLst>
          </p:cNvPr>
          <p:cNvSpPr txBox="1"/>
          <p:nvPr/>
        </p:nvSpPr>
        <p:spPr>
          <a:xfrm>
            <a:off x="700633" y="6252150"/>
            <a:ext cx="3865289" cy="400110"/>
          </a:xfrm>
          <a:prstGeom prst="rect">
            <a:avLst/>
          </a:prstGeom>
          <a:noFill/>
        </p:spPr>
        <p:txBody>
          <a:bodyPr wrap="none" rtlCol="0">
            <a:spAutoFit/>
          </a:bodyPr>
          <a:lstStyle/>
          <a:p>
            <a:r>
              <a:rPr lang="it-IT" sz="2000" b="1" dirty="0" err="1">
                <a:solidFill>
                  <a:srgbClr val="FF0000"/>
                </a:solidFill>
              </a:rPr>
              <a:t>Entities</a:t>
            </a:r>
            <a:r>
              <a:rPr lang="it-IT" sz="2000" b="1" dirty="0"/>
              <a:t>, </a:t>
            </a:r>
            <a:r>
              <a:rPr lang="it-IT" sz="2000" b="1" dirty="0" err="1">
                <a:solidFill>
                  <a:srgbClr val="00B050"/>
                </a:solidFill>
              </a:rPr>
              <a:t>attributes</a:t>
            </a:r>
            <a:r>
              <a:rPr lang="it-IT" sz="2000" b="1" dirty="0"/>
              <a:t>, </a:t>
            </a:r>
            <a:r>
              <a:rPr lang="it-IT" sz="2000" b="1" dirty="0" err="1">
                <a:solidFill>
                  <a:srgbClr val="0070C0"/>
                </a:solidFill>
              </a:rPr>
              <a:t>relationships</a:t>
            </a:r>
            <a:endParaRPr lang="it-IT" sz="2000" b="1" dirty="0">
              <a:solidFill>
                <a:srgbClr val="0070C0"/>
              </a:solidFill>
            </a:endParaRPr>
          </a:p>
        </p:txBody>
      </p:sp>
    </p:spTree>
    <p:extLst>
      <p:ext uri="{BB962C8B-B14F-4D97-AF65-F5344CB8AC3E}">
        <p14:creationId xmlns:p14="http://schemas.microsoft.com/office/powerpoint/2010/main" val="1561828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2750F8E9-6E36-DA79-427A-FEFFAFAEA100}"/>
              </a:ext>
            </a:extLst>
          </p:cNvPr>
          <p:cNvSpPr>
            <a:spLocks noGrp="1"/>
          </p:cNvSpPr>
          <p:nvPr>
            <p:ph idx="1"/>
          </p:nvPr>
        </p:nvSpPr>
        <p:spPr>
          <a:xfrm>
            <a:off x="700635" y="1200150"/>
            <a:ext cx="10691265" cy="4761738"/>
          </a:xfrm>
        </p:spPr>
        <p:txBody>
          <a:bodyPr>
            <a:noAutofit/>
          </a:bodyPr>
          <a:lstStyle/>
          <a:p>
            <a:pPr marL="0" indent="0" algn="just">
              <a:buNone/>
            </a:pPr>
            <a:r>
              <a:rPr lang="it-IT" dirty="0">
                <a:solidFill>
                  <a:srgbClr val="000000"/>
                </a:solidFill>
                <a:effectLst/>
              </a:rPr>
              <a:t>Si realizzi un’applicazione client server web che estende e/o modifica le specifiche precedenti come segue:</a:t>
            </a:r>
          </a:p>
          <a:p>
            <a:pPr algn="just">
              <a:buNone/>
            </a:pPr>
            <a:r>
              <a:rPr lang="it-IT" dirty="0">
                <a:solidFill>
                  <a:srgbClr val="000000"/>
                </a:solidFill>
                <a:effectLst/>
              </a:rPr>
              <a:t>● Dopo il login, l’intera applicazione è realizzata con un’unica pagina.</a:t>
            </a:r>
          </a:p>
          <a:p>
            <a:pPr algn="just">
              <a:buNone/>
            </a:pPr>
            <a:r>
              <a:rPr lang="it-IT" dirty="0">
                <a:solidFill>
                  <a:srgbClr val="000000"/>
                </a:solidFill>
                <a:effectLst/>
              </a:rPr>
              <a:t>● Se l’utente accede per la prima volta l’applicazione mostra il contenuto della pagina ACQUISTO. Se l’utente ha già usato l’applicazione, questa mostra il contenuto della pagina VENDO se l’ultima azione dell’utente è stata la creazione di un’asta; altrimenti mostra il contenuto della pagina ACQUISTO con l’elenco (eventualmente vuoto) delle aste su cui l’utente ha cliccato in precedenza e che sono ancora aperte. L’informazione dell’ultima azione compiuta e delle aste visitate è memorizzata a lato client per la durata di un mese.</a:t>
            </a:r>
          </a:p>
          <a:p>
            <a:pPr algn="just">
              <a:buNone/>
            </a:pPr>
            <a:r>
              <a:rPr lang="it-IT" dirty="0">
                <a:solidFill>
                  <a:srgbClr val="000000"/>
                </a:solidFill>
                <a:effectLst/>
              </a:rPr>
              <a:t>● Ogni interazione dell’utente è gestita senza ricaricare completamente la pagina, ma produce l’invocazione asincrona del server e l’eventuale modifica solo del contenuto da aggiornare a seguito dell’evento.</a:t>
            </a:r>
            <a:endParaRPr lang="it-IT" dirty="0"/>
          </a:p>
        </p:txBody>
      </p:sp>
      <p:sp>
        <p:nvSpPr>
          <p:cNvPr id="4" name="CasellaDiTesto 3">
            <a:extLst>
              <a:ext uri="{FF2B5EF4-FFF2-40B4-BE49-F238E27FC236}">
                <a16:creationId xmlns:a16="http://schemas.microsoft.com/office/drawing/2014/main" id="{09B452F1-05AD-D7DB-390A-5457C26B034E}"/>
              </a:ext>
            </a:extLst>
          </p:cNvPr>
          <p:cNvSpPr txBox="1"/>
          <p:nvPr/>
        </p:nvSpPr>
        <p:spPr>
          <a:xfrm>
            <a:off x="700633" y="6252150"/>
            <a:ext cx="3865289" cy="400110"/>
          </a:xfrm>
          <a:prstGeom prst="rect">
            <a:avLst/>
          </a:prstGeom>
          <a:noFill/>
        </p:spPr>
        <p:txBody>
          <a:bodyPr wrap="none" rtlCol="0">
            <a:spAutoFit/>
          </a:bodyPr>
          <a:lstStyle/>
          <a:p>
            <a:r>
              <a:rPr lang="it-IT" sz="2000" b="1" dirty="0" err="1">
                <a:solidFill>
                  <a:srgbClr val="FF0000"/>
                </a:solidFill>
              </a:rPr>
              <a:t>Entities</a:t>
            </a:r>
            <a:r>
              <a:rPr lang="it-IT" sz="2000" b="1" dirty="0"/>
              <a:t>, </a:t>
            </a:r>
            <a:r>
              <a:rPr lang="it-IT" sz="2000" b="1" dirty="0" err="1">
                <a:solidFill>
                  <a:srgbClr val="00B050"/>
                </a:solidFill>
              </a:rPr>
              <a:t>attributes</a:t>
            </a:r>
            <a:r>
              <a:rPr lang="it-IT" sz="2000" b="1" dirty="0"/>
              <a:t>, </a:t>
            </a:r>
            <a:r>
              <a:rPr lang="it-IT" sz="2000" b="1" dirty="0" err="1">
                <a:solidFill>
                  <a:srgbClr val="0070C0"/>
                </a:solidFill>
              </a:rPr>
              <a:t>relationships</a:t>
            </a:r>
            <a:endParaRPr lang="it-IT" sz="2000" b="1" dirty="0">
              <a:solidFill>
                <a:srgbClr val="0070C0"/>
              </a:solidFill>
            </a:endParaRPr>
          </a:p>
        </p:txBody>
      </p:sp>
    </p:spTree>
    <p:extLst>
      <p:ext uri="{BB962C8B-B14F-4D97-AF65-F5344CB8AC3E}">
        <p14:creationId xmlns:p14="http://schemas.microsoft.com/office/powerpoint/2010/main" val="394992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diagramma, Piano, Disegno tecnico, schematico&#10;&#10;Il contenuto generato dall'IA potrebbe non essere corretto.">
            <a:extLst>
              <a:ext uri="{FF2B5EF4-FFF2-40B4-BE49-F238E27FC236}">
                <a16:creationId xmlns:a16="http://schemas.microsoft.com/office/drawing/2014/main" id="{4D762D16-08D9-657B-21BB-0C41E7DB6E59}"/>
              </a:ext>
            </a:extLst>
          </p:cNvPr>
          <p:cNvPicPr>
            <a:picLocks noGrp="1" noChangeAspect="1"/>
          </p:cNvPicPr>
          <p:nvPr>
            <p:ph idx="1"/>
          </p:nvPr>
        </p:nvPicPr>
        <p:blipFill>
          <a:blip r:embed="rId2"/>
          <a:srcRect l="3447" t="5807" r="2797" b="7885"/>
          <a:stretch/>
        </p:blipFill>
        <p:spPr>
          <a:xfrm>
            <a:off x="2356008" y="1718712"/>
            <a:ext cx="7479983" cy="4359761"/>
          </a:xfrm>
        </p:spPr>
      </p:pic>
      <p:sp>
        <p:nvSpPr>
          <p:cNvPr id="2" name="Titolo 1">
            <a:extLst>
              <a:ext uri="{FF2B5EF4-FFF2-40B4-BE49-F238E27FC236}">
                <a16:creationId xmlns:a16="http://schemas.microsoft.com/office/drawing/2014/main" id="{BB839160-C8BE-7D76-34E5-92A378C53492}"/>
              </a:ext>
            </a:extLst>
          </p:cNvPr>
          <p:cNvSpPr>
            <a:spLocks noGrp="1"/>
          </p:cNvSpPr>
          <p:nvPr>
            <p:ph type="title"/>
          </p:nvPr>
        </p:nvSpPr>
        <p:spPr>
          <a:xfrm>
            <a:off x="750367" y="914400"/>
            <a:ext cx="10691265" cy="1307592"/>
          </a:xfrm>
        </p:spPr>
        <p:txBody>
          <a:bodyPr/>
          <a:lstStyle/>
          <a:p>
            <a:pPr algn="ctr"/>
            <a:r>
              <a:rPr lang="it-IT" dirty="0"/>
              <a:t>Database design</a:t>
            </a:r>
          </a:p>
        </p:txBody>
      </p:sp>
      <p:sp>
        <p:nvSpPr>
          <p:cNvPr id="8" name="CasellaDiTesto 7">
            <a:extLst>
              <a:ext uri="{FF2B5EF4-FFF2-40B4-BE49-F238E27FC236}">
                <a16:creationId xmlns:a16="http://schemas.microsoft.com/office/drawing/2014/main" id="{8E13E841-2C8A-E004-9E36-C5BF185F58F1}"/>
              </a:ext>
            </a:extLst>
          </p:cNvPr>
          <p:cNvSpPr txBox="1"/>
          <p:nvPr/>
        </p:nvSpPr>
        <p:spPr>
          <a:xfrm>
            <a:off x="5416166" y="1568196"/>
            <a:ext cx="1359668" cy="369332"/>
          </a:xfrm>
          <a:prstGeom prst="rect">
            <a:avLst/>
          </a:prstGeom>
          <a:noFill/>
        </p:spPr>
        <p:txBody>
          <a:bodyPr wrap="none" rtlCol="0">
            <a:spAutoFit/>
          </a:bodyPr>
          <a:lstStyle/>
          <a:p>
            <a:r>
              <a:rPr lang="it-IT" dirty="0"/>
              <a:t>Concettuale</a:t>
            </a:r>
          </a:p>
        </p:txBody>
      </p:sp>
    </p:spTree>
    <p:extLst>
      <p:ext uri="{BB962C8B-B14F-4D97-AF65-F5344CB8AC3E}">
        <p14:creationId xmlns:p14="http://schemas.microsoft.com/office/powerpoint/2010/main" val="1790441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egnaposto contenuto 6" descr="Immagine che contiene testo, schermata, ricevuta, Carattere&#10;&#10;Il contenuto generato dall'IA potrebbe non essere corretto.">
            <a:extLst>
              <a:ext uri="{FF2B5EF4-FFF2-40B4-BE49-F238E27FC236}">
                <a16:creationId xmlns:a16="http://schemas.microsoft.com/office/drawing/2014/main" id="{00C95B14-3043-3296-3E93-3EEC5BA8B9E6}"/>
              </a:ext>
            </a:extLst>
          </p:cNvPr>
          <p:cNvPicPr>
            <a:picLocks noGrp="1" noChangeAspect="1"/>
          </p:cNvPicPr>
          <p:nvPr>
            <p:ph idx="1"/>
          </p:nvPr>
        </p:nvPicPr>
        <p:blipFill>
          <a:blip r:embed="rId2"/>
          <a:srcRect b="17026"/>
          <a:stretch/>
        </p:blipFill>
        <p:spPr>
          <a:xfrm>
            <a:off x="915681" y="1568196"/>
            <a:ext cx="10360638" cy="4375404"/>
          </a:xfrm>
        </p:spPr>
      </p:pic>
      <p:sp>
        <p:nvSpPr>
          <p:cNvPr id="4" name="Titolo 1">
            <a:extLst>
              <a:ext uri="{FF2B5EF4-FFF2-40B4-BE49-F238E27FC236}">
                <a16:creationId xmlns:a16="http://schemas.microsoft.com/office/drawing/2014/main" id="{9DBCBE0F-7E9A-B4D4-A276-FD8C019AED8E}"/>
              </a:ext>
            </a:extLst>
          </p:cNvPr>
          <p:cNvSpPr>
            <a:spLocks noGrp="1"/>
          </p:cNvSpPr>
          <p:nvPr>
            <p:ph type="title"/>
          </p:nvPr>
        </p:nvSpPr>
        <p:spPr>
          <a:xfrm>
            <a:off x="750367" y="914400"/>
            <a:ext cx="10691265" cy="1307592"/>
          </a:xfrm>
        </p:spPr>
        <p:txBody>
          <a:bodyPr/>
          <a:lstStyle/>
          <a:p>
            <a:pPr algn="ctr"/>
            <a:r>
              <a:rPr lang="it-IT" dirty="0"/>
              <a:t>Database design</a:t>
            </a:r>
          </a:p>
        </p:txBody>
      </p:sp>
      <p:sp>
        <p:nvSpPr>
          <p:cNvPr id="5" name="CasellaDiTesto 4">
            <a:extLst>
              <a:ext uri="{FF2B5EF4-FFF2-40B4-BE49-F238E27FC236}">
                <a16:creationId xmlns:a16="http://schemas.microsoft.com/office/drawing/2014/main" id="{231BE9FF-7178-1E87-FAB0-32D5B9A54006}"/>
              </a:ext>
            </a:extLst>
          </p:cNvPr>
          <p:cNvSpPr txBox="1"/>
          <p:nvPr/>
        </p:nvSpPr>
        <p:spPr>
          <a:xfrm>
            <a:off x="5662226" y="1568196"/>
            <a:ext cx="867545" cy="369332"/>
          </a:xfrm>
          <a:prstGeom prst="rect">
            <a:avLst/>
          </a:prstGeom>
          <a:noFill/>
        </p:spPr>
        <p:txBody>
          <a:bodyPr wrap="none" rtlCol="0">
            <a:spAutoFit/>
          </a:bodyPr>
          <a:lstStyle/>
          <a:p>
            <a:r>
              <a:rPr lang="it-IT" dirty="0"/>
              <a:t>Logico</a:t>
            </a:r>
          </a:p>
        </p:txBody>
      </p:sp>
    </p:spTree>
    <p:extLst>
      <p:ext uri="{BB962C8B-B14F-4D97-AF65-F5344CB8AC3E}">
        <p14:creationId xmlns:p14="http://schemas.microsoft.com/office/powerpoint/2010/main" val="3242441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5EEAD-14F5-9818-2BD4-08486B73299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C6C1BAB-6518-94F1-FB3E-39BF32B34500}"/>
              </a:ext>
            </a:extLst>
          </p:cNvPr>
          <p:cNvSpPr>
            <a:spLocks noGrp="1"/>
          </p:cNvSpPr>
          <p:nvPr>
            <p:ph type="title"/>
          </p:nvPr>
        </p:nvSpPr>
        <p:spPr>
          <a:xfrm>
            <a:off x="700633" y="855024"/>
            <a:ext cx="10691265" cy="1307592"/>
          </a:xfrm>
        </p:spPr>
        <p:txBody>
          <a:bodyPr/>
          <a:lstStyle/>
          <a:p>
            <a:pPr algn="ctr"/>
            <a:r>
              <a:rPr lang="it-IT" dirty="0"/>
              <a:t>Application </a:t>
            </a:r>
            <a:r>
              <a:rPr lang="it-IT" dirty="0" err="1"/>
              <a:t>requirements</a:t>
            </a:r>
            <a:r>
              <a:rPr lang="it-IT" dirty="0"/>
              <a:t> </a:t>
            </a:r>
            <a:r>
              <a:rPr lang="it-IT" dirty="0" err="1"/>
              <a:t>analysis</a:t>
            </a:r>
            <a:endParaRPr lang="it-IT" dirty="0"/>
          </a:p>
        </p:txBody>
      </p:sp>
      <p:sp>
        <p:nvSpPr>
          <p:cNvPr id="3" name="Segnaposto contenuto 2">
            <a:extLst>
              <a:ext uri="{FF2B5EF4-FFF2-40B4-BE49-F238E27FC236}">
                <a16:creationId xmlns:a16="http://schemas.microsoft.com/office/drawing/2014/main" id="{4D929B5C-D45E-8D1F-31A0-7C898F138627}"/>
              </a:ext>
            </a:extLst>
          </p:cNvPr>
          <p:cNvSpPr>
            <a:spLocks noGrp="1"/>
          </p:cNvSpPr>
          <p:nvPr>
            <p:ph idx="1"/>
          </p:nvPr>
        </p:nvSpPr>
        <p:spPr>
          <a:xfrm>
            <a:off x="700633" y="1691640"/>
            <a:ext cx="10691265" cy="4377690"/>
          </a:xfrm>
        </p:spPr>
        <p:txBody>
          <a:bodyPr>
            <a:noAutofit/>
          </a:bodyPr>
          <a:lstStyle/>
          <a:p>
            <a:pPr marL="0" indent="0" algn="just">
              <a:buNone/>
            </a:pPr>
            <a:r>
              <a:rPr lang="it-IT" dirty="0">
                <a:solidFill>
                  <a:srgbClr val="000000"/>
                </a:solidFill>
                <a:effectLst/>
              </a:rPr>
              <a:t>Un’applicazione web consente la gestione di aste online. Gli utenti accedono tramite </a:t>
            </a:r>
            <a:r>
              <a:rPr lang="it-IT" b="1" dirty="0">
                <a:solidFill>
                  <a:srgbClr val="FF0000"/>
                </a:solidFill>
                <a:effectLst/>
              </a:rPr>
              <a:t>lo</a:t>
            </a:r>
            <a:r>
              <a:rPr lang="it-IT" b="1" dirty="0">
                <a:solidFill>
                  <a:srgbClr val="0070C0"/>
                </a:solidFill>
                <a:effectLst/>
              </a:rPr>
              <a:t>gin</a:t>
            </a:r>
            <a:r>
              <a:rPr lang="it-IT" dirty="0">
                <a:solidFill>
                  <a:srgbClr val="000000"/>
                </a:solidFill>
                <a:effectLst/>
              </a:rPr>
              <a:t> e possono vendere e acquistare articoli all’asta. Ogni </a:t>
            </a:r>
            <a:r>
              <a:rPr lang="it-IT" dirty="0">
                <a:effectLst/>
              </a:rPr>
              <a:t>utente</a:t>
            </a:r>
            <a:r>
              <a:rPr lang="it-IT" dirty="0">
                <a:solidFill>
                  <a:srgbClr val="000000"/>
                </a:solidFill>
                <a:effectLst/>
              </a:rPr>
              <a:t> ha </a:t>
            </a:r>
            <a:r>
              <a:rPr lang="it-IT" dirty="0">
                <a:effectLst/>
              </a:rPr>
              <a:t>username, password, nome, cognome e indirizzo</a:t>
            </a:r>
            <a:r>
              <a:rPr lang="it-IT" dirty="0">
                <a:solidFill>
                  <a:srgbClr val="000000"/>
                </a:solidFill>
                <a:effectLst/>
              </a:rPr>
              <a:t> (quest’ultimo è usato per la spedizione degli articoli comperati). Ogni </a:t>
            </a:r>
            <a:r>
              <a:rPr lang="it-IT" dirty="0">
                <a:effectLst/>
              </a:rPr>
              <a:t>articolo</a:t>
            </a:r>
            <a:r>
              <a:rPr lang="it-IT" dirty="0">
                <a:solidFill>
                  <a:srgbClr val="000000"/>
                </a:solidFill>
                <a:effectLst/>
              </a:rPr>
              <a:t> ha </a:t>
            </a:r>
            <a:r>
              <a:rPr lang="it-IT" dirty="0">
                <a:effectLst/>
              </a:rPr>
              <a:t>codice, nome, descrizione, immagine e prezzo</a:t>
            </a:r>
            <a:r>
              <a:rPr lang="it-IT" dirty="0">
                <a:solidFill>
                  <a:srgbClr val="000000"/>
                </a:solidFill>
                <a:effectLst/>
              </a:rPr>
              <a:t>. La </a:t>
            </a:r>
            <a:r>
              <a:rPr lang="it-IT" b="1" dirty="0" err="1">
                <a:solidFill>
                  <a:srgbClr val="FF0000"/>
                </a:solidFill>
                <a:effectLst/>
              </a:rPr>
              <a:t>HOMEpage</a:t>
            </a:r>
            <a:r>
              <a:rPr lang="it-IT" dirty="0">
                <a:solidFill>
                  <a:srgbClr val="000000"/>
                </a:solidFill>
                <a:effectLst/>
              </a:rPr>
              <a:t> contiene due </a:t>
            </a:r>
            <a:r>
              <a:rPr lang="it-IT" b="1" dirty="0">
                <a:solidFill>
                  <a:srgbClr val="0070C0"/>
                </a:solidFill>
                <a:effectLst/>
              </a:rPr>
              <a:t>link</a:t>
            </a:r>
            <a:r>
              <a:rPr lang="it-IT" dirty="0">
                <a:solidFill>
                  <a:srgbClr val="000000"/>
                </a:solidFill>
                <a:effectLst/>
              </a:rPr>
              <a:t>, uno per </a:t>
            </a:r>
            <a:r>
              <a:rPr lang="it-IT" b="1" dirty="0">
                <a:solidFill>
                  <a:srgbClr val="0070C0"/>
                </a:solidFill>
                <a:effectLst/>
              </a:rPr>
              <a:t>accedere</a:t>
            </a:r>
            <a:r>
              <a:rPr lang="it-IT" dirty="0">
                <a:solidFill>
                  <a:srgbClr val="000000"/>
                </a:solidFill>
                <a:effectLst/>
              </a:rPr>
              <a:t> alla pagina </a:t>
            </a:r>
            <a:r>
              <a:rPr lang="it-IT" b="1" dirty="0">
                <a:solidFill>
                  <a:srgbClr val="FF0000"/>
                </a:solidFill>
                <a:effectLst/>
              </a:rPr>
              <a:t>VENDO</a:t>
            </a:r>
            <a:r>
              <a:rPr lang="it-IT" dirty="0">
                <a:solidFill>
                  <a:srgbClr val="000000"/>
                </a:solidFill>
                <a:effectLst/>
              </a:rPr>
              <a:t> e uno per </a:t>
            </a:r>
            <a:r>
              <a:rPr lang="it-IT" b="1" dirty="0">
                <a:solidFill>
                  <a:srgbClr val="0070C0"/>
                </a:solidFill>
                <a:effectLst/>
              </a:rPr>
              <a:t>accedere</a:t>
            </a:r>
            <a:r>
              <a:rPr lang="it-IT" dirty="0">
                <a:solidFill>
                  <a:srgbClr val="000000"/>
                </a:solidFill>
                <a:effectLst/>
              </a:rPr>
              <a:t> alla pagina </a:t>
            </a:r>
            <a:r>
              <a:rPr lang="it-IT" b="1" dirty="0">
                <a:solidFill>
                  <a:srgbClr val="FF0000"/>
                </a:solidFill>
                <a:effectLst/>
              </a:rPr>
              <a:t>ACQUISTO</a:t>
            </a:r>
            <a:r>
              <a:rPr lang="it-IT" dirty="0">
                <a:solidFill>
                  <a:srgbClr val="000000"/>
                </a:solidFill>
                <a:effectLst/>
              </a:rPr>
              <a:t>. La pagina </a:t>
            </a:r>
            <a:r>
              <a:rPr lang="it-IT" b="1" dirty="0">
                <a:solidFill>
                  <a:srgbClr val="FF0000"/>
                </a:solidFill>
                <a:effectLst/>
              </a:rPr>
              <a:t>VENDO</a:t>
            </a:r>
            <a:r>
              <a:rPr lang="it-IT" dirty="0">
                <a:solidFill>
                  <a:srgbClr val="000000"/>
                </a:solidFill>
                <a:effectLst/>
              </a:rPr>
              <a:t> mostra una </a:t>
            </a:r>
            <a:r>
              <a:rPr lang="it-IT" b="1" dirty="0">
                <a:solidFill>
                  <a:srgbClr val="00B050"/>
                </a:solidFill>
                <a:effectLst/>
              </a:rPr>
              <a:t>lista delle aste create dall’utente e non ancora chiuse</a:t>
            </a:r>
            <a:r>
              <a:rPr lang="it-IT" dirty="0">
                <a:solidFill>
                  <a:srgbClr val="000000"/>
                </a:solidFill>
                <a:effectLst/>
              </a:rPr>
              <a:t>, una </a:t>
            </a:r>
            <a:r>
              <a:rPr lang="it-IT" b="1" dirty="0">
                <a:solidFill>
                  <a:srgbClr val="00B050"/>
                </a:solidFill>
                <a:effectLst/>
              </a:rPr>
              <a:t>lista delle aste da lui create e chiuse</a:t>
            </a:r>
            <a:r>
              <a:rPr lang="it-IT" dirty="0">
                <a:solidFill>
                  <a:srgbClr val="000000"/>
                </a:solidFill>
                <a:effectLst/>
              </a:rPr>
              <a:t> e </a:t>
            </a:r>
            <a:r>
              <a:rPr lang="it-IT" b="1" dirty="0">
                <a:solidFill>
                  <a:srgbClr val="00B050"/>
                </a:solidFill>
                <a:effectLst/>
              </a:rPr>
              <a:t>due </a:t>
            </a:r>
            <a:r>
              <a:rPr lang="it-IT" b="1" dirty="0" err="1">
                <a:solidFill>
                  <a:srgbClr val="00B050"/>
                </a:solidFill>
                <a:effectLst/>
              </a:rPr>
              <a:t>form</a:t>
            </a:r>
            <a:r>
              <a:rPr lang="it-IT" dirty="0">
                <a:solidFill>
                  <a:srgbClr val="000000"/>
                </a:solidFill>
                <a:effectLst/>
              </a:rPr>
              <a:t>, uno per </a:t>
            </a:r>
            <a:r>
              <a:rPr lang="it-IT" b="1" dirty="0">
                <a:solidFill>
                  <a:srgbClr val="0070C0"/>
                </a:solidFill>
                <a:effectLst/>
              </a:rPr>
              <a:t>creare un nuovo articolo </a:t>
            </a:r>
            <a:r>
              <a:rPr lang="it-IT" dirty="0">
                <a:solidFill>
                  <a:srgbClr val="000000"/>
                </a:solidFill>
                <a:effectLst/>
              </a:rPr>
              <a:t>e uno per </a:t>
            </a:r>
            <a:r>
              <a:rPr lang="it-IT" b="1" dirty="0">
                <a:solidFill>
                  <a:srgbClr val="0070C0"/>
                </a:solidFill>
                <a:effectLst/>
              </a:rPr>
              <a:t>creare una nuova asta</a:t>
            </a:r>
            <a:r>
              <a:rPr lang="it-IT" dirty="0">
                <a:solidFill>
                  <a:srgbClr val="000000"/>
                </a:solidFill>
                <a:effectLst/>
              </a:rPr>
              <a:t> per vendere gli articoli dell’utente. </a:t>
            </a:r>
            <a:r>
              <a:rPr lang="it-IT" dirty="0" err="1">
                <a:solidFill>
                  <a:srgbClr val="000000"/>
                </a:solidFill>
                <a:effectLst/>
              </a:rPr>
              <a:t>ll</a:t>
            </a:r>
            <a:r>
              <a:rPr lang="it-IT" dirty="0">
                <a:solidFill>
                  <a:srgbClr val="000000"/>
                </a:solidFill>
                <a:effectLst/>
              </a:rPr>
              <a:t> </a:t>
            </a:r>
            <a:r>
              <a:rPr lang="it-IT" dirty="0" err="1">
                <a:solidFill>
                  <a:srgbClr val="000000"/>
                </a:solidFill>
                <a:effectLst/>
              </a:rPr>
              <a:t>prim</a:t>
            </a:r>
            <a:r>
              <a:rPr lang="it-IT" dirty="0">
                <a:solidFill>
                  <a:srgbClr val="000000"/>
                </a:solidFill>
                <a:effectLst/>
              </a:rPr>
              <a:t> </a:t>
            </a:r>
            <a:r>
              <a:rPr lang="it-IT" b="1" dirty="0" err="1">
                <a:solidFill>
                  <a:srgbClr val="00B050"/>
                </a:solidFill>
                <a:effectLst/>
              </a:rPr>
              <a:t>form</a:t>
            </a:r>
            <a:r>
              <a:rPr lang="it-IT" dirty="0">
                <a:solidFill>
                  <a:srgbClr val="000000"/>
                </a:solidFill>
                <a:effectLst/>
              </a:rPr>
              <a:t> consente di </a:t>
            </a:r>
            <a:r>
              <a:rPr lang="it-IT" b="1" dirty="0">
                <a:solidFill>
                  <a:srgbClr val="FFC000"/>
                </a:solidFill>
                <a:effectLst/>
              </a:rPr>
              <a:t>inserire nel database un articolo con tutti i suoi dati</a:t>
            </a:r>
            <a:r>
              <a:rPr lang="it-IT" dirty="0">
                <a:solidFill>
                  <a:srgbClr val="000000"/>
                </a:solidFill>
                <a:effectLst/>
              </a:rPr>
              <a:t>, che sono obbligatori. Il secondo </a:t>
            </a:r>
            <a:r>
              <a:rPr lang="it-IT" b="1" dirty="0" err="1">
                <a:solidFill>
                  <a:srgbClr val="00B050"/>
                </a:solidFill>
                <a:effectLst/>
              </a:rPr>
              <a:t>form</a:t>
            </a:r>
            <a:r>
              <a:rPr lang="it-IT" dirty="0">
                <a:solidFill>
                  <a:srgbClr val="000000"/>
                </a:solidFill>
              </a:rPr>
              <a:t> </a:t>
            </a:r>
            <a:r>
              <a:rPr lang="it-IT" dirty="0">
                <a:effectLst/>
              </a:rPr>
              <a:t>mostra</a:t>
            </a:r>
            <a:r>
              <a:rPr lang="it-IT" b="1" dirty="0">
                <a:solidFill>
                  <a:srgbClr val="FFC000"/>
                </a:solidFill>
                <a:effectLst/>
              </a:rPr>
              <a:t> </a:t>
            </a:r>
            <a:r>
              <a:rPr lang="it-IT" b="1" dirty="0">
                <a:solidFill>
                  <a:srgbClr val="00B050"/>
                </a:solidFill>
                <a:effectLst/>
              </a:rPr>
              <a:t>l'elenco degli articoli presenti nel database e disponibili per la vendita</a:t>
            </a:r>
            <a:r>
              <a:rPr lang="it-IT" dirty="0">
                <a:solidFill>
                  <a:srgbClr val="FFC000"/>
                </a:solidFill>
                <a:effectLst/>
              </a:rPr>
              <a:t> </a:t>
            </a:r>
            <a:r>
              <a:rPr lang="it-IT" dirty="0">
                <a:solidFill>
                  <a:srgbClr val="000000"/>
                </a:solidFill>
                <a:effectLst/>
              </a:rPr>
              <a:t>e dà la possibilità di </a:t>
            </a:r>
            <a:r>
              <a:rPr lang="it-IT" b="1" dirty="0">
                <a:solidFill>
                  <a:srgbClr val="FFC000"/>
                </a:solidFill>
                <a:effectLst/>
              </a:rPr>
              <a:t>selezionarne più di uno per creare un’asta che li comprende</a:t>
            </a:r>
            <a:r>
              <a:rPr lang="it-IT" dirty="0">
                <a:solidFill>
                  <a:srgbClr val="000000"/>
                </a:solidFill>
                <a:effectLst/>
              </a:rPr>
              <a:t>. </a:t>
            </a:r>
            <a:r>
              <a:rPr lang="it-IT" dirty="0">
                <a:effectLst/>
              </a:rPr>
              <a:t>Un’asta</a:t>
            </a:r>
            <a:r>
              <a:rPr lang="it-IT" dirty="0">
                <a:solidFill>
                  <a:srgbClr val="000000"/>
                </a:solidFill>
                <a:effectLst/>
              </a:rPr>
              <a:t> </a:t>
            </a:r>
            <a:r>
              <a:rPr lang="it-IT" dirty="0">
                <a:effectLst/>
              </a:rPr>
              <a:t>è</a:t>
            </a:r>
            <a:r>
              <a:rPr lang="it-IT" b="1" dirty="0">
                <a:solidFill>
                  <a:srgbClr val="0070C0"/>
                </a:solidFill>
                <a:effectLst/>
              </a:rPr>
              <a:t> </a:t>
            </a:r>
            <a:r>
              <a:rPr lang="it-IT" dirty="0">
                <a:effectLst/>
              </a:rPr>
              <a:t>formata</a:t>
            </a:r>
            <a:r>
              <a:rPr lang="it-IT" b="1" dirty="0">
                <a:solidFill>
                  <a:srgbClr val="0070C0"/>
                </a:solidFill>
                <a:effectLst/>
              </a:rPr>
              <a:t> </a:t>
            </a:r>
            <a:r>
              <a:rPr lang="it-IT" dirty="0">
                <a:effectLst/>
              </a:rPr>
              <a:t>da uno o più articoli</a:t>
            </a:r>
            <a:r>
              <a:rPr lang="it-IT" dirty="0"/>
              <a:t> </a:t>
            </a:r>
            <a:r>
              <a:rPr lang="it-IT" dirty="0">
                <a:effectLst/>
              </a:rPr>
              <a:t>messi in vendita, il prezzo iniziale dell’insieme di articoli, il rialzo minimo</a:t>
            </a:r>
            <a:r>
              <a:rPr lang="it-IT" dirty="0">
                <a:solidFill>
                  <a:srgbClr val="000000"/>
                </a:solidFill>
                <a:effectLst/>
              </a:rPr>
              <a:t> di ogni offerta (espresso come un numero intero di euro) e una </a:t>
            </a:r>
            <a:r>
              <a:rPr lang="it-IT" dirty="0">
                <a:effectLst/>
              </a:rPr>
              <a:t>scadenza</a:t>
            </a:r>
            <a:r>
              <a:rPr lang="it-IT" dirty="0">
                <a:solidFill>
                  <a:srgbClr val="000000"/>
                </a:solidFill>
                <a:effectLst/>
              </a:rPr>
              <a:t> (data e ora, es. 19-04-2021 alle 24:00).</a:t>
            </a:r>
            <a:endParaRPr lang="it-IT" dirty="0"/>
          </a:p>
        </p:txBody>
      </p:sp>
      <p:sp>
        <p:nvSpPr>
          <p:cNvPr id="4" name="CasellaDiTesto 3">
            <a:extLst>
              <a:ext uri="{FF2B5EF4-FFF2-40B4-BE49-F238E27FC236}">
                <a16:creationId xmlns:a16="http://schemas.microsoft.com/office/drawing/2014/main" id="{FD9654B3-D0F4-32E3-5732-B18DFAA7DEF7}"/>
              </a:ext>
            </a:extLst>
          </p:cNvPr>
          <p:cNvSpPr txBox="1"/>
          <p:nvPr/>
        </p:nvSpPr>
        <p:spPr>
          <a:xfrm>
            <a:off x="700633" y="6252150"/>
            <a:ext cx="5602111" cy="400110"/>
          </a:xfrm>
          <a:prstGeom prst="rect">
            <a:avLst/>
          </a:prstGeom>
          <a:noFill/>
        </p:spPr>
        <p:txBody>
          <a:bodyPr wrap="none" rtlCol="0">
            <a:spAutoFit/>
          </a:bodyPr>
          <a:lstStyle/>
          <a:p>
            <a:r>
              <a:rPr lang="it-IT" sz="2000" b="1" dirty="0">
                <a:solidFill>
                  <a:srgbClr val="FF0000"/>
                </a:solidFill>
              </a:rPr>
              <a:t>Pages (</a:t>
            </a:r>
            <a:r>
              <a:rPr lang="it-IT" sz="2000" b="1" dirty="0" err="1">
                <a:solidFill>
                  <a:srgbClr val="FF0000"/>
                </a:solidFill>
              </a:rPr>
              <a:t>views</a:t>
            </a:r>
            <a:r>
              <a:rPr lang="it-IT" sz="2000" b="1" dirty="0">
                <a:solidFill>
                  <a:srgbClr val="FF0000"/>
                </a:solidFill>
              </a:rPr>
              <a:t>)</a:t>
            </a:r>
            <a:r>
              <a:rPr lang="it-IT" sz="2000" b="1" dirty="0"/>
              <a:t>, </a:t>
            </a:r>
            <a:r>
              <a:rPr lang="it-IT" sz="2000" b="1" dirty="0" err="1">
                <a:solidFill>
                  <a:srgbClr val="00B050"/>
                </a:solidFill>
              </a:rPr>
              <a:t>view</a:t>
            </a:r>
            <a:r>
              <a:rPr lang="it-IT" sz="2000" b="1" dirty="0">
                <a:solidFill>
                  <a:srgbClr val="00B050"/>
                </a:solidFill>
              </a:rPr>
              <a:t> </a:t>
            </a:r>
            <a:r>
              <a:rPr lang="it-IT" sz="2000" b="1" dirty="0" err="1">
                <a:solidFill>
                  <a:srgbClr val="00B050"/>
                </a:solidFill>
              </a:rPr>
              <a:t>components</a:t>
            </a:r>
            <a:r>
              <a:rPr lang="it-IT" sz="2000" b="1" dirty="0"/>
              <a:t>, </a:t>
            </a:r>
            <a:r>
              <a:rPr lang="it-IT" sz="2000" b="1" dirty="0">
                <a:solidFill>
                  <a:srgbClr val="0070C0"/>
                </a:solidFill>
              </a:rPr>
              <a:t>events</a:t>
            </a:r>
            <a:r>
              <a:rPr lang="it-IT" sz="2000" b="1" dirty="0"/>
              <a:t>, </a:t>
            </a:r>
            <a:r>
              <a:rPr lang="it-IT" sz="2000" b="1" dirty="0">
                <a:solidFill>
                  <a:srgbClr val="FFC000"/>
                </a:solidFill>
              </a:rPr>
              <a:t>actions</a:t>
            </a:r>
          </a:p>
        </p:txBody>
      </p:sp>
    </p:spTree>
    <p:extLst>
      <p:ext uri="{BB962C8B-B14F-4D97-AF65-F5344CB8AC3E}">
        <p14:creationId xmlns:p14="http://schemas.microsoft.com/office/powerpoint/2010/main" val="20921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3F70-2CA5-ABFB-22B7-6F1459ADA844}"/>
            </a:ext>
          </a:extLst>
        </p:cNvPr>
        <p:cNvGrpSpPr/>
        <p:nvPr/>
      </p:nvGrpSpPr>
      <p:grpSpPr>
        <a:xfrm>
          <a:off x="0" y="0"/>
          <a:ext cx="0" cy="0"/>
          <a:chOff x="0" y="0"/>
          <a:chExt cx="0" cy="0"/>
        </a:xfrm>
      </p:grpSpPr>
      <p:sp>
        <p:nvSpPr>
          <p:cNvPr id="5" name="Titolo 1">
            <a:extLst>
              <a:ext uri="{FF2B5EF4-FFF2-40B4-BE49-F238E27FC236}">
                <a16:creationId xmlns:a16="http://schemas.microsoft.com/office/drawing/2014/main" id="{62DD2B05-4553-4012-C108-4595F5D6C700}"/>
              </a:ext>
            </a:extLst>
          </p:cNvPr>
          <p:cNvSpPr>
            <a:spLocks noGrp="1"/>
          </p:cNvSpPr>
          <p:nvPr>
            <p:ph idx="1"/>
          </p:nvPr>
        </p:nvSpPr>
        <p:spPr>
          <a:xfrm>
            <a:off x="700088" y="1165860"/>
            <a:ext cx="10691812" cy="4796790"/>
          </a:xfrm>
        </p:spPr>
        <p:txBody>
          <a:bodyPr>
            <a:noAutofit/>
          </a:bodyPr>
          <a:lstStyle/>
          <a:p>
            <a:pPr marL="0" indent="0" algn="just">
              <a:buNone/>
            </a:pPr>
            <a:r>
              <a:rPr lang="it-IT" dirty="0">
                <a:solidFill>
                  <a:srgbClr val="000000"/>
                </a:solidFill>
                <a:effectLst/>
              </a:rPr>
              <a:t>Il prezzo iniziale dell’asta è ottenuto come </a:t>
            </a:r>
            <a:r>
              <a:rPr lang="it-IT" b="1" dirty="0">
                <a:solidFill>
                  <a:srgbClr val="FFC000"/>
                </a:solidFill>
                <a:effectLst/>
              </a:rPr>
              <a:t>somma del prezzo degli articoli compresi nell’offerta</a:t>
            </a:r>
            <a:r>
              <a:rPr lang="it-IT" dirty="0">
                <a:solidFill>
                  <a:srgbClr val="000000"/>
                </a:solidFill>
                <a:effectLst/>
              </a:rPr>
              <a:t>. Lo stesso articolo non può essere incluso in aste diverse. Una volta venduto, un articolo </a:t>
            </a:r>
            <a:r>
              <a:rPr lang="it-IT" b="1" dirty="0">
                <a:solidFill>
                  <a:srgbClr val="FFC000"/>
                </a:solidFill>
                <a:effectLst/>
              </a:rPr>
              <a:t>non deve essere più disponibile per l’inserimento in ulteriori aste</a:t>
            </a:r>
            <a:r>
              <a:rPr lang="it-IT" dirty="0">
                <a:solidFill>
                  <a:srgbClr val="000000"/>
                </a:solidFill>
                <a:effectLst/>
              </a:rPr>
              <a:t>. La lista delle aste nella pagina </a:t>
            </a:r>
            <a:r>
              <a:rPr lang="it-IT" b="1" dirty="0">
                <a:solidFill>
                  <a:srgbClr val="FF0000"/>
                </a:solidFill>
                <a:effectLst/>
              </a:rPr>
              <a:t>VENDO</a:t>
            </a:r>
            <a:r>
              <a:rPr lang="it-IT" dirty="0">
                <a:solidFill>
                  <a:srgbClr val="000000"/>
                </a:solidFill>
                <a:effectLst/>
              </a:rPr>
              <a:t> è ordinata per </a:t>
            </a:r>
            <a:r>
              <a:rPr lang="it-IT" dirty="0" err="1">
                <a:solidFill>
                  <a:srgbClr val="000000"/>
                </a:solidFill>
                <a:effectLst/>
              </a:rPr>
              <a:t>data+ora</a:t>
            </a:r>
            <a:r>
              <a:rPr lang="it-IT" dirty="0">
                <a:solidFill>
                  <a:srgbClr val="000000"/>
                </a:solidFill>
                <a:effectLst/>
              </a:rPr>
              <a:t> crescente. </a:t>
            </a:r>
            <a:r>
              <a:rPr lang="it-IT" b="1" dirty="0">
                <a:solidFill>
                  <a:srgbClr val="00B050"/>
                </a:solidFill>
                <a:effectLst/>
              </a:rPr>
              <a:t>L’elenco riporta: codice e nome degli articoli compresi nell’asta, offerta massima, tempo mancante</a:t>
            </a:r>
            <a:r>
              <a:rPr lang="it-IT" dirty="0">
                <a:solidFill>
                  <a:srgbClr val="000000"/>
                </a:solidFill>
                <a:effectLst/>
              </a:rPr>
              <a:t> (numero di giorni e ore) tra il momento (data ora) del login e la data e ora di chiusura dell’asta. </a:t>
            </a:r>
            <a:r>
              <a:rPr lang="it-IT" b="1" dirty="0">
                <a:solidFill>
                  <a:srgbClr val="0070C0"/>
                </a:solidFill>
                <a:effectLst/>
              </a:rPr>
              <a:t>Cliccando su un’asta nell’elenco</a:t>
            </a:r>
            <a:r>
              <a:rPr lang="it-IT" b="1" dirty="0">
                <a:solidFill>
                  <a:srgbClr val="FFC000"/>
                </a:solidFill>
                <a:effectLst/>
              </a:rPr>
              <a:t> </a:t>
            </a:r>
            <a:r>
              <a:rPr lang="it-IT" dirty="0">
                <a:solidFill>
                  <a:srgbClr val="000000"/>
                </a:solidFill>
                <a:effectLst/>
              </a:rPr>
              <a:t>compare una pagina </a:t>
            </a:r>
            <a:r>
              <a:rPr lang="it-IT" b="1" dirty="0">
                <a:solidFill>
                  <a:srgbClr val="FF0000"/>
                </a:solidFill>
                <a:effectLst/>
              </a:rPr>
              <a:t>DETTAGLIO ASTA </a:t>
            </a:r>
            <a:r>
              <a:rPr lang="it-IT" dirty="0">
                <a:solidFill>
                  <a:srgbClr val="000000"/>
                </a:solidFill>
                <a:effectLst/>
              </a:rPr>
              <a:t>che </a:t>
            </a:r>
            <a:r>
              <a:rPr lang="it-IT" b="1" dirty="0">
                <a:solidFill>
                  <a:srgbClr val="00B050"/>
                </a:solidFill>
                <a:effectLst/>
              </a:rPr>
              <a:t>riporta per un’asta aperta tutti i dati dell’asta e la lista delle offerte</a:t>
            </a:r>
            <a:r>
              <a:rPr lang="it-IT" dirty="0">
                <a:solidFill>
                  <a:srgbClr val="000000"/>
                </a:solidFill>
                <a:effectLst/>
              </a:rPr>
              <a:t> (nome utente, prezzo offerto, data e ora dell’offerta) ordinata per </a:t>
            </a:r>
            <a:r>
              <a:rPr lang="it-IT" dirty="0" err="1">
                <a:solidFill>
                  <a:srgbClr val="000000"/>
                </a:solidFill>
                <a:effectLst/>
              </a:rPr>
              <a:t>data+ora</a:t>
            </a:r>
            <a:r>
              <a:rPr lang="it-IT" dirty="0">
                <a:solidFill>
                  <a:srgbClr val="000000"/>
                </a:solidFill>
                <a:effectLst/>
              </a:rPr>
              <a:t> decrescente. Un </a:t>
            </a:r>
            <a:r>
              <a:rPr lang="it-IT" b="1" dirty="0">
                <a:solidFill>
                  <a:srgbClr val="00B050"/>
                </a:solidFill>
                <a:effectLst/>
              </a:rPr>
              <a:t>bottone</a:t>
            </a:r>
            <a:r>
              <a:rPr lang="it-IT" dirty="0">
                <a:solidFill>
                  <a:srgbClr val="000000"/>
                </a:solidFill>
                <a:effectLst/>
              </a:rPr>
              <a:t> </a:t>
            </a:r>
            <a:r>
              <a:rPr lang="it-IT" b="1" dirty="0">
                <a:solidFill>
                  <a:srgbClr val="00B050"/>
                </a:solidFill>
                <a:effectLst/>
              </a:rPr>
              <a:t>CHIUDI</a:t>
            </a:r>
            <a:r>
              <a:rPr lang="it-IT" dirty="0">
                <a:solidFill>
                  <a:srgbClr val="000000"/>
                </a:solidFill>
                <a:effectLst/>
              </a:rPr>
              <a:t> permette all’utente di </a:t>
            </a:r>
            <a:r>
              <a:rPr lang="it-IT" b="1" dirty="0">
                <a:solidFill>
                  <a:srgbClr val="0070C0"/>
                </a:solidFill>
                <a:effectLst/>
              </a:rPr>
              <a:t>chiudere l’asta </a:t>
            </a:r>
            <a:r>
              <a:rPr lang="it-IT" b="1" dirty="0">
                <a:solidFill>
                  <a:srgbClr val="FFC000"/>
                </a:solidFill>
                <a:effectLst/>
              </a:rPr>
              <a:t>se è giunta l’ora della scadenza</a:t>
            </a:r>
            <a:r>
              <a:rPr lang="it-IT" dirty="0">
                <a:solidFill>
                  <a:srgbClr val="000000"/>
                </a:solidFill>
                <a:effectLst/>
              </a:rPr>
              <a:t> (si ignori il caso di aste scadute ma non chiuse dall’utente e non ci si occupi della chiusura automatica di aste dopo la scadenza). </a:t>
            </a:r>
            <a:r>
              <a:rPr lang="it-IT" b="1" dirty="0">
                <a:solidFill>
                  <a:srgbClr val="FFC000"/>
                </a:solidFill>
                <a:effectLst/>
              </a:rPr>
              <a:t>Se l’asta è chiusa</a:t>
            </a:r>
            <a:r>
              <a:rPr lang="it-IT" dirty="0">
                <a:solidFill>
                  <a:srgbClr val="000000"/>
                </a:solidFill>
                <a:effectLst/>
              </a:rPr>
              <a:t>, la pagina riporta </a:t>
            </a:r>
            <a:r>
              <a:rPr lang="it-IT" b="1" dirty="0">
                <a:solidFill>
                  <a:srgbClr val="00B050"/>
                </a:solidFill>
                <a:effectLst/>
              </a:rPr>
              <a:t>tutti i dati dell’asta, il nome dell’aggiudicatario, il prezzo finale e l’indirizzo (fisso) di spedizione dell’utente</a:t>
            </a:r>
            <a:r>
              <a:rPr lang="it-IT" dirty="0">
                <a:solidFill>
                  <a:srgbClr val="000000"/>
                </a:solidFill>
                <a:effectLst/>
              </a:rPr>
              <a:t>. La pagina </a:t>
            </a:r>
            <a:r>
              <a:rPr lang="it-IT" b="1" dirty="0">
                <a:solidFill>
                  <a:srgbClr val="FF0000"/>
                </a:solidFill>
                <a:effectLst/>
              </a:rPr>
              <a:t>ACQUISTO</a:t>
            </a:r>
            <a:r>
              <a:rPr lang="it-IT" dirty="0">
                <a:solidFill>
                  <a:srgbClr val="000000"/>
                </a:solidFill>
                <a:effectLst/>
              </a:rPr>
              <a:t> contiene una </a:t>
            </a:r>
            <a:r>
              <a:rPr lang="it-IT" b="1" dirty="0" err="1">
                <a:solidFill>
                  <a:srgbClr val="00B050"/>
                </a:solidFill>
                <a:effectLst/>
              </a:rPr>
              <a:t>form</a:t>
            </a:r>
            <a:r>
              <a:rPr lang="it-IT" b="1" dirty="0">
                <a:solidFill>
                  <a:srgbClr val="00B050"/>
                </a:solidFill>
                <a:effectLst/>
              </a:rPr>
              <a:t> di ricerca per parola chiave</a:t>
            </a:r>
            <a:r>
              <a:rPr lang="it-IT" dirty="0">
                <a:solidFill>
                  <a:srgbClr val="000000"/>
                </a:solidFill>
                <a:effectLst/>
              </a:rPr>
              <a:t>.</a:t>
            </a:r>
            <a:endParaRPr lang="it-IT" dirty="0"/>
          </a:p>
        </p:txBody>
      </p:sp>
      <p:sp>
        <p:nvSpPr>
          <p:cNvPr id="2" name="CasellaDiTesto 1">
            <a:extLst>
              <a:ext uri="{FF2B5EF4-FFF2-40B4-BE49-F238E27FC236}">
                <a16:creationId xmlns:a16="http://schemas.microsoft.com/office/drawing/2014/main" id="{5413D19C-1CCC-252F-4DF5-2221A22AC97A}"/>
              </a:ext>
            </a:extLst>
          </p:cNvPr>
          <p:cNvSpPr txBox="1"/>
          <p:nvPr/>
        </p:nvSpPr>
        <p:spPr>
          <a:xfrm>
            <a:off x="700633" y="6252150"/>
            <a:ext cx="5602111" cy="400110"/>
          </a:xfrm>
          <a:prstGeom prst="rect">
            <a:avLst/>
          </a:prstGeom>
          <a:noFill/>
        </p:spPr>
        <p:txBody>
          <a:bodyPr wrap="none" rtlCol="0">
            <a:spAutoFit/>
          </a:bodyPr>
          <a:lstStyle/>
          <a:p>
            <a:r>
              <a:rPr lang="it-IT" sz="2000" b="1" dirty="0">
                <a:solidFill>
                  <a:srgbClr val="FF0000"/>
                </a:solidFill>
              </a:rPr>
              <a:t>Pages (</a:t>
            </a:r>
            <a:r>
              <a:rPr lang="it-IT" sz="2000" b="1" dirty="0" err="1">
                <a:solidFill>
                  <a:srgbClr val="FF0000"/>
                </a:solidFill>
              </a:rPr>
              <a:t>views</a:t>
            </a:r>
            <a:r>
              <a:rPr lang="it-IT" sz="2000" b="1" dirty="0">
                <a:solidFill>
                  <a:srgbClr val="FF0000"/>
                </a:solidFill>
              </a:rPr>
              <a:t>)</a:t>
            </a:r>
            <a:r>
              <a:rPr lang="it-IT" sz="2000" b="1" dirty="0"/>
              <a:t>, </a:t>
            </a:r>
            <a:r>
              <a:rPr lang="it-IT" sz="2000" b="1" dirty="0" err="1">
                <a:solidFill>
                  <a:srgbClr val="00B050"/>
                </a:solidFill>
              </a:rPr>
              <a:t>view</a:t>
            </a:r>
            <a:r>
              <a:rPr lang="it-IT" sz="2000" b="1" dirty="0">
                <a:solidFill>
                  <a:srgbClr val="00B050"/>
                </a:solidFill>
              </a:rPr>
              <a:t> </a:t>
            </a:r>
            <a:r>
              <a:rPr lang="it-IT" sz="2000" b="1" dirty="0" err="1">
                <a:solidFill>
                  <a:srgbClr val="00B050"/>
                </a:solidFill>
              </a:rPr>
              <a:t>components</a:t>
            </a:r>
            <a:r>
              <a:rPr lang="it-IT" sz="2000" b="1" dirty="0"/>
              <a:t>, </a:t>
            </a:r>
            <a:r>
              <a:rPr lang="it-IT" sz="2000" b="1" dirty="0">
                <a:solidFill>
                  <a:srgbClr val="0070C0"/>
                </a:solidFill>
              </a:rPr>
              <a:t>events</a:t>
            </a:r>
            <a:r>
              <a:rPr lang="it-IT" sz="2000" b="1" dirty="0"/>
              <a:t>, </a:t>
            </a:r>
            <a:r>
              <a:rPr lang="it-IT" sz="2000" b="1" dirty="0">
                <a:solidFill>
                  <a:srgbClr val="FFC000"/>
                </a:solidFill>
              </a:rPr>
              <a:t>actions</a:t>
            </a:r>
          </a:p>
        </p:txBody>
      </p:sp>
    </p:spTree>
    <p:extLst>
      <p:ext uri="{BB962C8B-B14F-4D97-AF65-F5344CB8AC3E}">
        <p14:creationId xmlns:p14="http://schemas.microsoft.com/office/powerpoint/2010/main" val="3226988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15945-3DAA-DC4D-9CF4-640396FFED1A}"/>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BC436A15-4754-D48E-23E5-31AF0CCB509E}"/>
              </a:ext>
            </a:extLst>
          </p:cNvPr>
          <p:cNvSpPr>
            <a:spLocks noGrp="1"/>
          </p:cNvSpPr>
          <p:nvPr>
            <p:ph idx="1"/>
          </p:nvPr>
        </p:nvSpPr>
        <p:spPr>
          <a:xfrm>
            <a:off x="700088" y="1634490"/>
            <a:ext cx="10691812" cy="4328160"/>
          </a:xfrm>
        </p:spPr>
        <p:txBody>
          <a:bodyPr>
            <a:noAutofit/>
          </a:bodyPr>
          <a:lstStyle/>
          <a:p>
            <a:pPr marL="0" indent="0" algn="just">
              <a:buNone/>
            </a:pPr>
            <a:r>
              <a:rPr lang="it-IT" dirty="0">
                <a:solidFill>
                  <a:srgbClr val="000000"/>
                </a:solidFill>
                <a:effectLst/>
              </a:rPr>
              <a:t>Quando l’acquirente </a:t>
            </a:r>
            <a:r>
              <a:rPr lang="it-IT" b="1" dirty="0">
                <a:solidFill>
                  <a:srgbClr val="0070C0"/>
                </a:solidFill>
                <a:effectLst/>
              </a:rPr>
              <a:t>invia una parola chiave </a:t>
            </a:r>
            <a:r>
              <a:rPr lang="it-IT" dirty="0">
                <a:solidFill>
                  <a:srgbClr val="000000"/>
                </a:solidFill>
                <a:effectLst/>
              </a:rPr>
              <a:t>la pagina </a:t>
            </a:r>
            <a:r>
              <a:rPr lang="it-IT" b="1" dirty="0">
                <a:solidFill>
                  <a:srgbClr val="FF0000"/>
                </a:solidFill>
                <a:effectLst/>
              </a:rPr>
              <a:t>ACQUISTO</a:t>
            </a:r>
            <a:r>
              <a:rPr lang="it-IT" dirty="0">
                <a:solidFill>
                  <a:srgbClr val="000000"/>
                </a:solidFill>
                <a:effectLst/>
              </a:rPr>
              <a:t> è aggiornata e mostra un </a:t>
            </a:r>
            <a:r>
              <a:rPr lang="it-IT" b="1" dirty="0">
                <a:solidFill>
                  <a:srgbClr val="00B050"/>
                </a:solidFill>
                <a:effectLst/>
              </a:rPr>
              <a:t>elenco di aste aperte </a:t>
            </a:r>
            <a:r>
              <a:rPr lang="it-IT" dirty="0">
                <a:solidFill>
                  <a:srgbClr val="000000"/>
                </a:solidFill>
                <a:effectLst/>
              </a:rPr>
              <a:t>(la cui scadenza è posteriore alla data e ora dell’invio) per cui la </a:t>
            </a:r>
            <a:r>
              <a:rPr lang="it-IT" b="1" dirty="0">
                <a:solidFill>
                  <a:srgbClr val="FFC000"/>
                </a:solidFill>
                <a:effectLst/>
              </a:rPr>
              <a:t>parola chiave compare nel nome o nella descrizione di almeno uno degli articoli dell’asta</a:t>
            </a:r>
            <a:r>
              <a:rPr lang="it-IT" dirty="0">
                <a:solidFill>
                  <a:srgbClr val="000000"/>
                </a:solidFill>
                <a:effectLst/>
              </a:rPr>
              <a:t>. La lista è </a:t>
            </a:r>
            <a:r>
              <a:rPr lang="it-IT" b="1" dirty="0">
                <a:solidFill>
                  <a:srgbClr val="FFC000"/>
                </a:solidFill>
                <a:effectLst/>
              </a:rPr>
              <a:t>ordinata in modo decrescente in base al tempo </a:t>
            </a:r>
            <a:r>
              <a:rPr lang="it-IT" dirty="0">
                <a:solidFill>
                  <a:srgbClr val="000000"/>
                </a:solidFill>
                <a:effectLst/>
              </a:rPr>
              <a:t>(numero di giorni e ore) </a:t>
            </a:r>
            <a:r>
              <a:rPr lang="it-IT" b="1" dirty="0">
                <a:solidFill>
                  <a:srgbClr val="FFC000"/>
                </a:solidFill>
                <a:effectLst/>
              </a:rPr>
              <a:t>mancante alla chiusura</a:t>
            </a:r>
            <a:r>
              <a:rPr lang="it-IT" dirty="0">
                <a:solidFill>
                  <a:srgbClr val="000000"/>
                </a:solidFill>
                <a:effectLst/>
              </a:rPr>
              <a:t>. </a:t>
            </a:r>
            <a:r>
              <a:rPr lang="it-IT" b="1" dirty="0">
                <a:solidFill>
                  <a:srgbClr val="0070C0"/>
                </a:solidFill>
                <a:effectLst/>
              </a:rPr>
              <a:t>Cliccando su un’asta aperta </a:t>
            </a:r>
            <a:r>
              <a:rPr lang="it-IT" dirty="0">
                <a:solidFill>
                  <a:srgbClr val="000000"/>
                </a:solidFill>
                <a:effectLst/>
              </a:rPr>
              <a:t>compare la pagina </a:t>
            </a:r>
            <a:r>
              <a:rPr lang="it-IT" b="1" dirty="0">
                <a:solidFill>
                  <a:srgbClr val="FF0000"/>
                </a:solidFill>
                <a:effectLst/>
              </a:rPr>
              <a:t>OFFERTA</a:t>
            </a:r>
            <a:r>
              <a:rPr lang="it-IT" dirty="0">
                <a:solidFill>
                  <a:srgbClr val="000000"/>
                </a:solidFill>
                <a:effectLst/>
              </a:rPr>
              <a:t> che mostra i </a:t>
            </a:r>
            <a:r>
              <a:rPr lang="it-IT" b="1" dirty="0">
                <a:solidFill>
                  <a:srgbClr val="00B050"/>
                </a:solidFill>
                <a:effectLst/>
              </a:rPr>
              <a:t>dati degli articoli, l’elenco delle offerte</a:t>
            </a:r>
            <a:r>
              <a:rPr lang="it-IT" dirty="0">
                <a:solidFill>
                  <a:srgbClr val="000000"/>
                </a:solidFill>
                <a:effectLst/>
              </a:rPr>
              <a:t> pervenute in </a:t>
            </a:r>
            <a:r>
              <a:rPr lang="it-IT" b="1" dirty="0">
                <a:solidFill>
                  <a:srgbClr val="FFC000"/>
                </a:solidFill>
                <a:effectLst/>
              </a:rPr>
              <a:t>ordine di </a:t>
            </a:r>
            <a:r>
              <a:rPr lang="it-IT" b="1" dirty="0" err="1">
                <a:solidFill>
                  <a:srgbClr val="FFC000"/>
                </a:solidFill>
                <a:effectLst/>
              </a:rPr>
              <a:t>data+ora</a:t>
            </a:r>
            <a:r>
              <a:rPr lang="it-IT" b="1" dirty="0">
                <a:solidFill>
                  <a:srgbClr val="FFC000"/>
                </a:solidFill>
                <a:effectLst/>
              </a:rPr>
              <a:t> decrescente </a:t>
            </a:r>
            <a:r>
              <a:rPr lang="it-IT" dirty="0">
                <a:solidFill>
                  <a:srgbClr val="000000"/>
                </a:solidFill>
                <a:effectLst/>
              </a:rPr>
              <a:t>e un </a:t>
            </a:r>
            <a:r>
              <a:rPr lang="it-IT" b="1" dirty="0">
                <a:solidFill>
                  <a:srgbClr val="00B050"/>
                </a:solidFill>
                <a:effectLst/>
              </a:rPr>
              <a:t>campo di input per inserire la propria offerta</a:t>
            </a:r>
            <a:r>
              <a:rPr lang="it-IT" dirty="0">
                <a:solidFill>
                  <a:srgbClr val="000000"/>
                </a:solidFill>
                <a:effectLst/>
              </a:rPr>
              <a:t>, che </a:t>
            </a:r>
            <a:r>
              <a:rPr lang="it-IT" b="1" dirty="0">
                <a:solidFill>
                  <a:srgbClr val="FFC000"/>
                </a:solidFill>
                <a:effectLst/>
              </a:rPr>
              <a:t>deve essere superiore all’offerta massima corrente di un importo pari almeno al rialzo minimo</a:t>
            </a:r>
            <a:r>
              <a:rPr lang="it-IT" dirty="0">
                <a:solidFill>
                  <a:srgbClr val="000000"/>
                </a:solidFill>
                <a:effectLst/>
              </a:rPr>
              <a:t>. Dopo </a:t>
            </a:r>
            <a:r>
              <a:rPr lang="it-IT" b="1" dirty="0">
                <a:solidFill>
                  <a:srgbClr val="0070C0"/>
                </a:solidFill>
                <a:effectLst/>
              </a:rPr>
              <a:t>l’invio dell’offerta </a:t>
            </a:r>
            <a:r>
              <a:rPr lang="it-IT" dirty="0">
                <a:solidFill>
                  <a:srgbClr val="000000"/>
                </a:solidFill>
                <a:effectLst/>
              </a:rPr>
              <a:t>la pagina </a:t>
            </a:r>
            <a:r>
              <a:rPr lang="it-IT" b="1" dirty="0">
                <a:solidFill>
                  <a:srgbClr val="FF0000"/>
                </a:solidFill>
                <a:effectLst/>
              </a:rPr>
              <a:t>OFFERTA</a:t>
            </a:r>
            <a:r>
              <a:rPr lang="it-IT" dirty="0">
                <a:solidFill>
                  <a:srgbClr val="000000"/>
                </a:solidFill>
                <a:effectLst/>
              </a:rPr>
              <a:t> mostra </a:t>
            </a:r>
            <a:r>
              <a:rPr lang="it-IT" b="1" dirty="0">
                <a:solidFill>
                  <a:srgbClr val="00B050"/>
                </a:solidFill>
                <a:effectLst/>
              </a:rPr>
              <a:t>l’elenco delle offerte aggiornate</a:t>
            </a:r>
            <a:r>
              <a:rPr lang="it-IT" dirty="0">
                <a:solidFill>
                  <a:srgbClr val="000000"/>
                </a:solidFill>
                <a:effectLst/>
              </a:rPr>
              <a:t>. La pagina </a:t>
            </a:r>
            <a:r>
              <a:rPr lang="it-IT" b="1" dirty="0">
                <a:solidFill>
                  <a:srgbClr val="FF0000"/>
                </a:solidFill>
                <a:effectLst/>
              </a:rPr>
              <a:t>ACQUISTO</a:t>
            </a:r>
            <a:r>
              <a:rPr lang="it-IT" dirty="0">
                <a:solidFill>
                  <a:srgbClr val="000000"/>
                </a:solidFill>
                <a:effectLst/>
              </a:rPr>
              <a:t> contiene anche un </a:t>
            </a:r>
            <a:r>
              <a:rPr lang="it-IT" b="1" dirty="0">
                <a:solidFill>
                  <a:srgbClr val="00B050"/>
                </a:solidFill>
                <a:effectLst/>
              </a:rPr>
              <a:t>elenco delle offerte aggiudicate all’utente con i dati degli articoli e il prezzo finale</a:t>
            </a:r>
            <a:r>
              <a:rPr lang="it-IT" dirty="0">
                <a:solidFill>
                  <a:srgbClr val="000000"/>
                </a:solidFill>
                <a:effectLst/>
              </a:rPr>
              <a:t>.</a:t>
            </a:r>
          </a:p>
          <a:p>
            <a:pPr marL="0" indent="0" algn="just">
              <a:buNone/>
            </a:pPr>
            <a:endParaRPr lang="it-IT" dirty="0"/>
          </a:p>
        </p:txBody>
      </p:sp>
      <p:sp>
        <p:nvSpPr>
          <p:cNvPr id="6" name="CasellaDiTesto 5">
            <a:extLst>
              <a:ext uri="{FF2B5EF4-FFF2-40B4-BE49-F238E27FC236}">
                <a16:creationId xmlns:a16="http://schemas.microsoft.com/office/drawing/2014/main" id="{753F3746-4188-A7F8-ADB9-3710BC9D1A7F}"/>
              </a:ext>
            </a:extLst>
          </p:cNvPr>
          <p:cNvSpPr txBox="1"/>
          <p:nvPr/>
        </p:nvSpPr>
        <p:spPr>
          <a:xfrm>
            <a:off x="1794510" y="1028700"/>
            <a:ext cx="184731" cy="369332"/>
          </a:xfrm>
          <a:prstGeom prst="rect">
            <a:avLst/>
          </a:prstGeom>
          <a:noFill/>
        </p:spPr>
        <p:txBody>
          <a:bodyPr wrap="none" rtlCol="0">
            <a:spAutoFit/>
          </a:bodyPr>
          <a:lstStyle/>
          <a:p>
            <a:endParaRPr lang="it-IT" dirty="0"/>
          </a:p>
        </p:txBody>
      </p:sp>
      <p:sp>
        <p:nvSpPr>
          <p:cNvPr id="7" name="CasellaDiTesto 6">
            <a:extLst>
              <a:ext uri="{FF2B5EF4-FFF2-40B4-BE49-F238E27FC236}">
                <a16:creationId xmlns:a16="http://schemas.microsoft.com/office/drawing/2014/main" id="{8EA430B9-0FDE-575B-74B8-9233F32C6AE9}"/>
              </a:ext>
            </a:extLst>
          </p:cNvPr>
          <p:cNvSpPr txBox="1"/>
          <p:nvPr/>
        </p:nvSpPr>
        <p:spPr>
          <a:xfrm>
            <a:off x="857250" y="937260"/>
            <a:ext cx="184731" cy="369332"/>
          </a:xfrm>
          <a:prstGeom prst="rect">
            <a:avLst/>
          </a:prstGeom>
          <a:noFill/>
        </p:spPr>
        <p:txBody>
          <a:bodyPr wrap="none" rtlCol="0">
            <a:spAutoFit/>
          </a:bodyPr>
          <a:lstStyle/>
          <a:p>
            <a:endParaRPr lang="it-IT" dirty="0"/>
          </a:p>
        </p:txBody>
      </p:sp>
      <p:sp>
        <p:nvSpPr>
          <p:cNvPr id="2" name="CasellaDiTesto 1">
            <a:extLst>
              <a:ext uri="{FF2B5EF4-FFF2-40B4-BE49-F238E27FC236}">
                <a16:creationId xmlns:a16="http://schemas.microsoft.com/office/drawing/2014/main" id="{A5D99188-F524-A524-1CD9-DF7810928FA2}"/>
              </a:ext>
            </a:extLst>
          </p:cNvPr>
          <p:cNvSpPr txBox="1"/>
          <p:nvPr/>
        </p:nvSpPr>
        <p:spPr>
          <a:xfrm>
            <a:off x="700633" y="6252150"/>
            <a:ext cx="5602111" cy="400110"/>
          </a:xfrm>
          <a:prstGeom prst="rect">
            <a:avLst/>
          </a:prstGeom>
          <a:noFill/>
        </p:spPr>
        <p:txBody>
          <a:bodyPr wrap="none" rtlCol="0">
            <a:spAutoFit/>
          </a:bodyPr>
          <a:lstStyle/>
          <a:p>
            <a:r>
              <a:rPr lang="it-IT" sz="2000" b="1" dirty="0">
                <a:solidFill>
                  <a:srgbClr val="FF0000"/>
                </a:solidFill>
              </a:rPr>
              <a:t>Pages (</a:t>
            </a:r>
            <a:r>
              <a:rPr lang="it-IT" sz="2000" b="1" dirty="0" err="1">
                <a:solidFill>
                  <a:srgbClr val="FF0000"/>
                </a:solidFill>
              </a:rPr>
              <a:t>views</a:t>
            </a:r>
            <a:r>
              <a:rPr lang="it-IT" sz="2000" b="1" dirty="0">
                <a:solidFill>
                  <a:srgbClr val="FF0000"/>
                </a:solidFill>
              </a:rPr>
              <a:t>)</a:t>
            </a:r>
            <a:r>
              <a:rPr lang="it-IT" sz="2000" b="1" dirty="0"/>
              <a:t>, </a:t>
            </a:r>
            <a:r>
              <a:rPr lang="it-IT" sz="2000" b="1" dirty="0" err="1">
                <a:solidFill>
                  <a:srgbClr val="00B050"/>
                </a:solidFill>
              </a:rPr>
              <a:t>view</a:t>
            </a:r>
            <a:r>
              <a:rPr lang="it-IT" sz="2000" b="1" dirty="0">
                <a:solidFill>
                  <a:srgbClr val="00B050"/>
                </a:solidFill>
              </a:rPr>
              <a:t> </a:t>
            </a:r>
            <a:r>
              <a:rPr lang="it-IT" sz="2000" b="1" dirty="0" err="1">
                <a:solidFill>
                  <a:srgbClr val="00B050"/>
                </a:solidFill>
              </a:rPr>
              <a:t>components</a:t>
            </a:r>
            <a:r>
              <a:rPr lang="it-IT" sz="2000" b="1" dirty="0"/>
              <a:t>, </a:t>
            </a:r>
            <a:r>
              <a:rPr lang="it-IT" sz="2000" b="1" dirty="0">
                <a:solidFill>
                  <a:srgbClr val="0070C0"/>
                </a:solidFill>
              </a:rPr>
              <a:t>events</a:t>
            </a:r>
            <a:r>
              <a:rPr lang="it-IT" sz="2000" b="1" dirty="0"/>
              <a:t>, </a:t>
            </a:r>
            <a:r>
              <a:rPr lang="it-IT" sz="2000" b="1" dirty="0">
                <a:solidFill>
                  <a:srgbClr val="FFC000"/>
                </a:solidFill>
              </a:rPr>
              <a:t>actions</a:t>
            </a:r>
          </a:p>
        </p:txBody>
      </p:sp>
    </p:spTree>
    <p:extLst>
      <p:ext uri="{BB962C8B-B14F-4D97-AF65-F5344CB8AC3E}">
        <p14:creationId xmlns:p14="http://schemas.microsoft.com/office/powerpoint/2010/main" val="481038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4BFF8-21BC-41AB-AF00-A34122CA45A2}"/>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24D64007-9AD6-1E97-919A-80B2C395EF5A}"/>
              </a:ext>
            </a:extLst>
          </p:cNvPr>
          <p:cNvSpPr>
            <a:spLocks noGrp="1"/>
          </p:cNvSpPr>
          <p:nvPr>
            <p:ph idx="1"/>
          </p:nvPr>
        </p:nvSpPr>
        <p:spPr>
          <a:xfrm>
            <a:off x="700635" y="1211580"/>
            <a:ext cx="10691265" cy="4750308"/>
          </a:xfrm>
        </p:spPr>
        <p:txBody>
          <a:bodyPr>
            <a:noAutofit/>
          </a:bodyPr>
          <a:lstStyle/>
          <a:p>
            <a:pPr marL="0" indent="0" algn="just">
              <a:buNone/>
            </a:pPr>
            <a:r>
              <a:rPr lang="it-IT" dirty="0">
                <a:solidFill>
                  <a:srgbClr val="000000"/>
                </a:solidFill>
                <a:effectLst/>
              </a:rPr>
              <a:t>Si realizzi un’applicazione client server web che estende e/o modifica le specifiche precedenti come segue:</a:t>
            </a:r>
          </a:p>
          <a:p>
            <a:pPr algn="just">
              <a:buNone/>
            </a:pPr>
            <a:r>
              <a:rPr lang="it-IT" dirty="0">
                <a:solidFill>
                  <a:srgbClr val="000000"/>
                </a:solidFill>
                <a:effectLst/>
              </a:rPr>
              <a:t>● Dopo il </a:t>
            </a:r>
            <a:r>
              <a:rPr lang="it-IT" b="1" dirty="0">
                <a:solidFill>
                  <a:srgbClr val="0070C0"/>
                </a:solidFill>
                <a:effectLst/>
              </a:rPr>
              <a:t>login</a:t>
            </a:r>
            <a:r>
              <a:rPr lang="it-IT" dirty="0">
                <a:solidFill>
                  <a:srgbClr val="000000"/>
                </a:solidFill>
                <a:effectLst/>
              </a:rPr>
              <a:t>, l’intera applicazione è realizzata con un’unica pagina.</a:t>
            </a:r>
          </a:p>
          <a:p>
            <a:pPr algn="just">
              <a:buNone/>
            </a:pPr>
            <a:r>
              <a:rPr lang="it-IT" dirty="0">
                <a:solidFill>
                  <a:srgbClr val="000000"/>
                </a:solidFill>
                <a:effectLst/>
              </a:rPr>
              <a:t>● Se l’utente </a:t>
            </a:r>
            <a:r>
              <a:rPr lang="it-IT" b="1" dirty="0">
                <a:solidFill>
                  <a:srgbClr val="0070C0"/>
                </a:solidFill>
                <a:effectLst/>
              </a:rPr>
              <a:t>accede per la prima volta </a:t>
            </a:r>
            <a:r>
              <a:rPr lang="it-IT" dirty="0">
                <a:solidFill>
                  <a:srgbClr val="000000"/>
                </a:solidFill>
                <a:effectLst/>
              </a:rPr>
              <a:t>l’applicazione mostra il </a:t>
            </a:r>
            <a:r>
              <a:rPr lang="it-IT" b="1" dirty="0">
                <a:solidFill>
                  <a:srgbClr val="00B050"/>
                </a:solidFill>
                <a:effectLst/>
              </a:rPr>
              <a:t>contenuto della pagina ACQU</a:t>
            </a:r>
            <a:r>
              <a:rPr lang="it-IT" b="1" dirty="0">
                <a:solidFill>
                  <a:srgbClr val="FF0000"/>
                </a:solidFill>
                <a:effectLst/>
              </a:rPr>
              <a:t>ISTO</a:t>
            </a:r>
            <a:r>
              <a:rPr lang="it-IT" dirty="0">
                <a:solidFill>
                  <a:srgbClr val="000000"/>
                </a:solidFill>
                <a:effectLst/>
              </a:rPr>
              <a:t>. Se l’utente ha </a:t>
            </a:r>
            <a:r>
              <a:rPr lang="it-IT" b="1" dirty="0">
                <a:solidFill>
                  <a:srgbClr val="FFC000"/>
                </a:solidFill>
                <a:effectLst/>
              </a:rPr>
              <a:t>già usato l’applicazione</a:t>
            </a:r>
            <a:r>
              <a:rPr lang="it-IT" dirty="0">
                <a:solidFill>
                  <a:srgbClr val="000000"/>
                </a:solidFill>
                <a:effectLst/>
              </a:rPr>
              <a:t>, questa mostra il </a:t>
            </a:r>
            <a:r>
              <a:rPr lang="it-IT" b="1" dirty="0">
                <a:solidFill>
                  <a:srgbClr val="00B050"/>
                </a:solidFill>
                <a:effectLst/>
              </a:rPr>
              <a:t>contenuto della pagina VEN</a:t>
            </a:r>
            <a:r>
              <a:rPr lang="it-IT" b="1" dirty="0">
                <a:solidFill>
                  <a:srgbClr val="FF0000"/>
                </a:solidFill>
                <a:effectLst/>
              </a:rPr>
              <a:t>DO</a:t>
            </a:r>
            <a:r>
              <a:rPr lang="it-IT" dirty="0">
                <a:solidFill>
                  <a:srgbClr val="000000"/>
                </a:solidFill>
                <a:effectLst/>
              </a:rPr>
              <a:t> </a:t>
            </a:r>
            <a:r>
              <a:rPr lang="it-IT" b="1" dirty="0">
                <a:solidFill>
                  <a:srgbClr val="FFC000"/>
                </a:solidFill>
                <a:effectLst/>
              </a:rPr>
              <a:t>se l’ultima azione dell’utente è stata la creazione di un’asta</a:t>
            </a:r>
            <a:r>
              <a:rPr lang="it-IT" dirty="0">
                <a:solidFill>
                  <a:srgbClr val="000000"/>
                </a:solidFill>
                <a:effectLst/>
              </a:rPr>
              <a:t>; </a:t>
            </a:r>
            <a:r>
              <a:rPr lang="it-IT" b="1" dirty="0">
                <a:solidFill>
                  <a:srgbClr val="FFC000"/>
                </a:solidFill>
                <a:effectLst/>
              </a:rPr>
              <a:t>altrimenti</a:t>
            </a:r>
            <a:r>
              <a:rPr lang="it-IT" dirty="0">
                <a:solidFill>
                  <a:srgbClr val="000000"/>
                </a:solidFill>
                <a:effectLst/>
              </a:rPr>
              <a:t> mostra il </a:t>
            </a:r>
            <a:r>
              <a:rPr lang="it-IT" b="1" dirty="0">
                <a:solidFill>
                  <a:srgbClr val="00B050"/>
                </a:solidFill>
                <a:effectLst/>
              </a:rPr>
              <a:t>contenuto della pagina ACQU</a:t>
            </a:r>
            <a:r>
              <a:rPr lang="it-IT" b="1" dirty="0">
                <a:solidFill>
                  <a:srgbClr val="FF0000"/>
                </a:solidFill>
                <a:effectLst/>
              </a:rPr>
              <a:t>ISTO</a:t>
            </a:r>
            <a:r>
              <a:rPr lang="it-IT" dirty="0">
                <a:solidFill>
                  <a:srgbClr val="000000"/>
                </a:solidFill>
                <a:effectLst/>
              </a:rPr>
              <a:t> con l’</a:t>
            </a:r>
            <a:r>
              <a:rPr lang="it-IT" b="1" dirty="0">
                <a:solidFill>
                  <a:srgbClr val="00B050"/>
                </a:solidFill>
                <a:effectLst/>
              </a:rPr>
              <a:t>elenco (eventualmente vuoto) delle aste su cui l’utente ha cliccato in precedenza e che sono ancora aperte</a:t>
            </a:r>
            <a:r>
              <a:rPr lang="it-IT" dirty="0">
                <a:solidFill>
                  <a:srgbClr val="000000"/>
                </a:solidFill>
                <a:effectLst/>
              </a:rPr>
              <a:t>. L’informazione dell’ultima azione compiuta e delle aste visitate è </a:t>
            </a:r>
            <a:r>
              <a:rPr lang="it-IT" b="1" dirty="0">
                <a:solidFill>
                  <a:srgbClr val="FFC000"/>
                </a:solidFill>
                <a:effectLst/>
              </a:rPr>
              <a:t>memorizzata a lato client per la durata di un mese</a:t>
            </a:r>
            <a:r>
              <a:rPr lang="it-IT" dirty="0">
                <a:solidFill>
                  <a:srgbClr val="000000"/>
                </a:solidFill>
                <a:effectLst/>
              </a:rPr>
              <a:t>.</a:t>
            </a:r>
          </a:p>
          <a:p>
            <a:pPr algn="just">
              <a:buNone/>
            </a:pPr>
            <a:r>
              <a:rPr lang="it-IT" dirty="0">
                <a:solidFill>
                  <a:srgbClr val="000000"/>
                </a:solidFill>
                <a:effectLst/>
              </a:rPr>
              <a:t>● Ogni interazione dell’utente è gestita </a:t>
            </a:r>
            <a:r>
              <a:rPr lang="it-IT" b="1" dirty="0">
                <a:solidFill>
                  <a:srgbClr val="FFC000"/>
                </a:solidFill>
                <a:effectLst/>
              </a:rPr>
              <a:t>senza ricaricare completamente la pagina</a:t>
            </a:r>
            <a:r>
              <a:rPr lang="it-IT" dirty="0">
                <a:solidFill>
                  <a:srgbClr val="000000"/>
                </a:solidFill>
                <a:effectLst/>
              </a:rPr>
              <a:t>, ma produce </a:t>
            </a:r>
            <a:r>
              <a:rPr lang="it-IT" b="1" dirty="0">
                <a:solidFill>
                  <a:srgbClr val="FFC000"/>
                </a:solidFill>
                <a:effectLst/>
              </a:rPr>
              <a:t>l’invocazione asincrona del server e l’eventuale modifica solo del contenuto da aggiornare a seguito dell’evento</a:t>
            </a:r>
            <a:r>
              <a:rPr lang="it-IT" dirty="0">
                <a:solidFill>
                  <a:srgbClr val="000000"/>
                </a:solidFill>
                <a:effectLst/>
              </a:rPr>
              <a:t>.</a:t>
            </a:r>
            <a:endParaRPr lang="it-IT" dirty="0"/>
          </a:p>
        </p:txBody>
      </p:sp>
      <p:sp>
        <p:nvSpPr>
          <p:cNvPr id="2" name="CasellaDiTesto 1">
            <a:extLst>
              <a:ext uri="{FF2B5EF4-FFF2-40B4-BE49-F238E27FC236}">
                <a16:creationId xmlns:a16="http://schemas.microsoft.com/office/drawing/2014/main" id="{5E4AFD26-9A3E-5412-7447-1C5E2FFAB88B}"/>
              </a:ext>
            </a:extLst>
          </p:cNvPr>
          <p:cNvSpPr txBox="1"/>
          <p:nvPr/>
        </p:nvSpPr>
        <p:spPr>
          <a:xfrm>
            <a:off x="700633" y="6252150"/>
            <a:ext cx="5602111" cy="400110"/>
          </a:xfrm>
          <a:prstGeom prst="rect">
            <a:avLst/>
          </a:prstGeom>
          <a:noFill/>
        </p:spPr>
        <p:txBody>
          <a:bodyPr wrap="none" rtlCol="0">
            <a:spAutoFit/>
          </a:bodyPr>
          <a:lstStyle/>
          <a:p>
            <a:r>
              <a:rPr lang="it-IT" sz="2000" b="1" dirty="0">
                <a:solidFill>
                  <a:srgbClr val="FF0000"/>
                </a:solidFill>
              </a:rPr>
              <a:t>Pages (</a:t>
            </a:r>
            <a:r>
              <a:rPr lang="it-IT" sz="2000" b="1" dirty="0" err="1">
                <a:solidFill>
                  <a:srgbClr val="FF0000"/>
                </a:solidFill>
              </a:rPr>
              <a:t>views</a:t>
            </a:r>
            <a:r>
              <a:rPr lang="it-IT" sz="2000" b="1" dirty="0">
                <a:solidFill>
                  <a:srgbClr val="FF0000"/>
                </a:solidFill>
              </a:rPr>
              <a:t>)</a:t>
            </a:r>
            <a:r>
              <a:rPr lang="it-IT" sz="2000" b="1" dirty="0"/>
              <a:t>, </a:t>
            </a:r>
            <a:r>
              <a:rPr lang="it-IT" sz="2000" b="1" dirty="0" err="1">
                <a:solidFill>
                  <a:srgbClr val="00B050"/>
                </a:solidFill>
              </a:rPr>
              <a:t>view</a:t>
            </a:r>
            <a:r>
              <a:rPr lang="it-IT" sz="2000" b="1" dirty="0">
                <a:solidFill>
                  <a:srgbClr val="00B050"/>
                </a:solidFill>
              </a:rPr>
              <a:t> </a:t>
            </a:r>
            <a:r>
              <a:rPr lang="it-IT" sz="2000" b="1" dirty="0" err="1">
                <a:solidFill>
                  <a:srgbClr val="00B050"/>
                </a:solidFill>
              </a:rPr>
              <a:t>components</a:t>
            </a:r>
            <a:r>
              <a:rPr lang="it-IT" sz="2000" b="1" dirty="0"/>
              <a:t>, </a:t>
            </a:r>
            <a:r>
              <a:rPr lang="it-IT" sz="2000" b="1" dirty="0">
                <a:solidFill>
                  <a:srgbClr val="0070C0"/>
                </a:solidFill>
              </a:rPr>
              <a:t>events</a:t>
            </a:r>
            <a:r>
              <a:rPr lang="it-IT" sz="2000" b="1" dirty="0"/>
              <a:t>, </a:t>
            </a:r>
            <a:r>
              <a:rPr lang="it-IT" sz="2000" b="1" dirty="0">
                <a:solidFill>
                  <a:srgbClr val="FFC000"/>
                </a:solidFill>
              </a:rPr>
              <a:t>actions</a:t>
            </a:r>
          </a:p>
        </p:txBody>
      </p:sp>
    </p:spTree>
    <p:extLst>
      <p:ext uri="{BB962C8B-B14F-4D97-AF65-F5344CB8AC3E}">
        <p14:creationId xmlns:p14="http://schemas.microsoft.com/office/powerpoint/2010/main" val="2306740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484954-A246-D4ED-68E7-EB4BC83756EF}"/>
              </a:ext>
            </a:extLst>
          </p:cNvPr>
          <p:cNvSpPr>
            <a:spLocks noGrp="1"/>
          </p:cNvSpPr>
          <p:nvPr>
            <p:ph type="title"/>
          </p:nvPr>
        </p:nvSpPr>
        <p:spPr/>
        <p:txBody>
          <a:bodyPr/>
          <a:lstStyle/>
          <a:p>
            <a:pPr algn="ctr"/>
            <a:r>
              <a:rPr lang="it-IT" dirty="0"/>
              <a:t>Completamento delle specifiche</a:t>
            </a:r>
          </a:p>
        </p:txBody>
      </p:sp>
      <p:sp>
        <p:nvSpPr>
          <p:cNvPr id="3" name="Segnaposto contenuto 2">
            <a:extLst>
              <a:ext uri="{FF2B5EF4-FFF2-40B4-BE49-F238E27FC236}">
                <a16:creationId xmlns:a16="http://schemas.microsoft.com/office/drawing/2014/main" id="{4BF26332-CE6B-77BE-D1DC-2A285D4BC782}"/>
              </a:ext>
            </a:extLst>
          </p:cNvPr>
          <p:cNvSpPr>
            <a:spLocks noGrp="1"/>
          </p:cNvSpPr>
          <p:nvPr>
            <p:ph idx="1"/>
          </p:nvPr>
        </p:nvSpPr>
        <p:spPr/>
        <p:txBody>
          <a:bodyPr>
            <a:normAutofit lnSpcReduction="10000"/>
          </a:bodyPr>
          <a:lstStyle/>
          <a:p>
            <a:r>
              <a:rPr lang="it-IT" dirty="0"/>
              <a:t>La pagina di default contiene il </a:t>
            </a:r>
            <a:r>
              <a:rPr lang="it-IT" dirty="0" err="1"/>
              <a:t>form</a:t>
            </a:r>
            <a:r>
              <a:rPr lang="it-IT" dirty="0"/>
              <a:t> per il login e un link alla pagina di registrazione</a:t>
            </a:r>
          </a:p>
          <a:p>
            <a:r>
              <a:rPr lang="it-IT" dirty="0"/>
              <a:t>Il prezzo di un offerta e di un articolo non può essere nullo o negativo</a:t>
            </a:r>
          </a:p>
          <a:p>
            <a:r>
              <a:rPr lang="it-IT" dirty="0"/>
              <a:t>La data di scadenza di un’asta non può essere precedente alla data odierna</a:t>
            </a:r>
          </a:p>
          <a:p>
            <a:r>
              <a:rPr lang="it-IT" dirty="0"/>
              <a:t>Non è possibile fare offerte su una propria asta o su un’asta scaduta ma non ancora chiusa</a:t>
            </a:r>
          </a:p>
          <a:p>
            <a:r>
              <a:rPr lang="it-IT" dirty="0"/>
              <a:t>Il bottone per chiudere un’asta viene visualizzato solo se è effettivamente possibile chiudere un’asta (asta propria, scaduta e non ancora chiusa)</a:t>
            </a:r>
          </a:p>
          <a:p>
            <a:r>
              <a:rPr lang="it-IT" dirty="0"/>
              <a:t>Il </a:t>
            </a:r>
            <a:r>
              <a:rPr lang="it-IT" dirty="0" err="1"/>
              <a:t>form</a:t>
            </a:r>
            <a:r>
              <a:rPr lang="it-IT" dirty="0"/>
              <a:t> per fare un’offerta viene visualizzato solo se è possibile fare un’offerta su quell’asta (asta non propria, non ancora scaduta e aperta)</a:t>
            </a:r>
          </a:p>
          <a:p>
            <a:r>
              <a:rPr lang="it-IT" dirty="0"/>
              <a:t>Le offerte vengono trattate come vere e proprie entità con attributi e relazioni</a:t>
            </a:r>
          </a:p>
        </p:txBody>
      </p:sp>
    </p:spTree>
    <p:extLst>
      <p:ext uri="{BB962C8B-B14F-4D97-AF65-F5344CB8AC3E}">
        <p14:creationId xmlns:p14="http://schemas.microsoft.com/office/powerpoint/2010/main" val="1736237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egnaposto contenuto 5">
            <a:extLst>
              <a:ext uri="{FF2B5EF4-FFF2-40B4-BE49-F238E27FC236}">
                <a16:creationId xmlns:a16="http://schemas.microsoft.com/office/drawing/2014/main" id="{725FDD80-0DBC-8DE6-AEA2-B9ECE3812C44}"/>
              </a:ext>
            </a:extLst>
          </p:cNvPr>
          <p:cNvPicPr>
            <a:picLocks noGrp="1" noChangeAspect="1"/>
          </p:cNvPicPr>
          <p:nvPr>
            <p:ph idx="1"/>
          </p:nvPr>
        </p:nvPicPr>
        <p:blipFill>
          <a:blip r:embed="rId2"/>
          <a:srcRect t="4120" r="58485" b="67400"/>
          <a:stretch/>
        </p:blipFill>
        <p:spPr>
          <a:xfrm>
            <a:off x="932905" y="1020848"/>
            <a:ext cx="10326185" cy="5005953"/>
          </a:xfrm>
        </p:spPr>
      </p:pic>
      <p:sp>
        <p:nvSpPr>
          <p:cNvPr id="2" name="Titolo 1">
            <a:extLst>
              <a:ext uri="{FF2B5EF4-FFF2-40B4-BE49-F238E27FC236}">
                <a16:creationId xmlns:a16="http://schemas.microsoft.com/office/drawing/2014/main" id="{68F60D08-073E-6986-BE89-DE39BFF0E80A}"/>
              </a:ext>
            </a:extLst>
          </p:cNvPr>
          <p:cNvSpPr>
            <a:spLocks noGrp="1"/>
          </p:cNvSpPr>
          <p:nvPr>
            <p:ph type="title"/>
          </p:nvPr>
        </p:nvSpPr>
        <p:spPr>
          <a:xfrm>
            <a:off x="750366" y="899044"/>
            <a:ext cx="10691265" cy="1307592"/>
          </a:xfrm>
        </p:spPr>
        <p:txBody>
          <a:bodyPr/>
          <a:lstStyle/>
          <a:p>
            <a:pPr algn="ctr"/>
            <a:r>
              <a:rPr lang="it-IT" dirty="0"/>
              <a:t>Application design</a:t>
            </a:r>
          </a:p>
        </p:txBody>
      </p:sp>
      <p:sp>
        <p:nvSpPr>
          <p:cNvPr id="4" name="CasellaDiTesto 3">
            <a:extLst>
              <a:ext uri="{FF2B5EF4-FFF2-40B4-BE49-F238E27FC236}">
                <a16:creationId xmlns:a16="http://schemas.microsoft.com/office/drawing/2014/main" id="{9C8CCABE-0084-5480-89B8-E54F0DEAC7D1}"/>
              </a:ext>
            </a:extLst>
          </p:cNvPr>
          <p:cNvSpPr txBox="1"/>
          <p:nvPr/>
        </p:nvSpPr>
        <p:spPr>
          <a:xfrm>
            <a:off x="4533841" y="1560305"/>
            <a:ext cx="3124317" cy="646331"/>
          </a:xfrm>
          <a:prstGeom prst="rect">
            <a:avLst/>
          </a:prstGeom>
          <a:noFill/>
        </p:spPr>
        <p:txBody>
          <a:bodyPr wrap="none" rtlCol="0">
            <a:spAutoFit/>
          </a:bodyPr>
          <a:lstStyle/>
          <a:p>
            <a:pPr algn="ctr"/>
            <a:r>
              <a:rPr lang="it-IT" dirty="0"/>
              <a:t>HTML Puro</a:t>
            </a:r>
          </a:p>
          <a:p>
            <a:pPr algn="ctr"/>
            <a:r>
              <a:rPr lang="it-IT" dirty="0"/>
              <a:t>Login – Registrazione - Home</a:t>
            </a:r>
          </a:p>
        </p:txBody>
      </p:sp>
    </p:spTree>
    <p:extLst>
      <p:ext uri="{BB962C8B-B14F-4D97-AF65-F5344CB8AC3E}">
        <p14:creationId xmlns:p14="http://schemas.microsoft.com/office/powerpoint/2010/main" val="4038670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A822-2016-B38E-C622-5D3957F71E6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B5DAA91-487C-0606-40CD-EAA991C9E39A}"/>
              </a:ext>
            </a:extLst>
          </p:cNvPr>
          <p:cNvSpPr>
            <a:spLocks noGrp="1"/>
          </p:cNvSpPr>
          <p:nvPr>
            <p:ph type="title"/>
          </p:nvPr>
        </p:nvSpPr>
        <p:spPr>
          <a:xfrm>
            <a:off x="750366" y="899044"/>
            <a:ext cx="10691265" cy="1307592"/>
          </a:xfrm>
        </p:spPr>
        <p:txBody>
          <a:bodyPr/>
          <a:lstStyle/>
          <a:p>
            <a:pPr algn="ctr"/>
            <a:r>
              <a:rPr lang="it-IT" dirty="0"/>
              <a:t>Application design</a:t>
            </a:r>
          </a:p>
        </p:txBody>
      </p:sp>
      <p:pic>
        <p:nvPicPr>
          <p:cNvPr id="8" name="Segnaposto contenuto 7">
            <a:extLst>
              <a:ext uri="{FF2B5EF4-FFF2-40B4-BE49-F238E27FC236}">
                <a16:creationId xmlns:a16="http://schemas.microsoft.com/office/drawing/2014/main" id="{82E1DD89-5BEC-9B57-4E50-95A9E4FE7F94}"/>
              </a:ext>
            </a:extLst>
          </p:cNvPr>
          <p:cNvPicPr>
            <a:picLocks noGrp="1" noChangeAspect="1"/>
          </p:cNvPicPr>
          <p:nvPr>
            <p:ph idx="1"/>
          </p:nvPr>
        </p:nvPicPr>
        <p:blipFill>
          <a:blip r:embed="rId2"/>
          <a:srcRect l="46091" r="1147" b="76587"/>
          <a:stretch/>
        </p:blipFill>
        <p:spPr>
          <a:xfrm>
            <a:off x="482246" y="1876005"/>
            <a:ext cx="11227504" cy="3520595"/>
          </a:xfrm>
        </p:spPr>
      </p:pic>
      <p:sp>
        <p:nvSpPr>
          <p:cNvPr id="4" name="CasellaDiTesto 3">
            <a:extLst>
              <a:ext uri="{FF2B5EF4-FFF2-40B4-BE49-F238E27FC236}">
                <a16:creationId xmlns:a16="http://schemas.microsoft.com/office/drawing/2014/main" id="{0EE1E057-A1C4-5775-E5AC-46B3C98DD631}"/>
              </a:ext>
            </a:extLst>
          </p:cNvPr>
          <p:cNvSpPr txBox="1"/>
          <p:nvPr/>
        </p:nvSpPr>
        <p:spPr>
          <a:xfrm>
            <a:off x="5125188" y="1552840"/>
            <a:ext cx="1941622" cy="646331"/>
          </a:xfrm>
          <a:prstGeom prst="rect">
            <a:avLst/>
          </a:prstGeom>
          <a:noFill/>
        </p:spPr>
        <p:txBody>
          <a:bodyPr wrap="none" rtlCol="0">
            <a:spAutoFit/>
          </a:bodyPr>
          <a:lstStyle/>
          <a:p>
            <a:pPr algn="ctr"/>
            <a:r>
              <a:rPr lang="it-IT" dirty="0"/>
              <a:t>HTML Puro</a:t>
            </a:r>
          </a:p>
          <a:p>
            <a:pPr algn="ctr"/>
            <a:r>
              <a:rPr lang="it-IT" dirty="0"/>
              <a:t>Acquisto - Offerta</a:t>
            </a:r>
          </a:p>
        </p:txBody>
      </p:sp>
    </p:spTree>
    <p:extLst>
      <p:ext uri="{BB962C8B-B14F-4D97-AF65-F5344CB8AC3E}">
        <p14:creationId xmlns:p14="http://schemas.microsoft.com/office/powerpoint/2010/main" val="184270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245E5-7C7B-C697-0020-94248897586D}"/>
            </a:ext>
          </a:extLst>
        </p:cNvPr>
        <p:cNvGrpSpPr/>
        <p:nvPr/>
      </p:nvGrpSpPr>
      <p:grpSpPr>
        <a:xfrm>
          <a:off x="0" y="0"/>
          <a:ext cx="0" cy="0"/>
          <a:chOff x="0" y="0"/>
          <a:chExt cx="0" cy="0"/>
        </a:xfrm>
      </p:grpSpPr>
      <p:pic>
        <p:nvPicPr>
          <p:cNvPr id="12" name="Segnaposto contenuto 11">
            <a:extLst>
              <a:ext uri="{FF2B5EF4-FFF2-40B4-BE49-F238E27FC236}">
                <a16:creationId xmlns:a16="http://schemas.microsoft.com/office/drawing/2014/main" id="{AFFF6074-BDA0-83AA-5A04-ED9DD07036B6}"/>
              </a:ext>
            </a:extLst>
          </p:cNvPr>
          <p:cNvPicPr>
            <a:picLocks noGrp="1" noChangeAspect="1"/>
          </p:cNvPicPr>
          <p:nvPr>
            <p:ph idx="1"/>
          </p:nvPr>
        </p:nvPicPr>
        <p:blipFill>
          <a:blip r:embed="rId2"/>
          <a:srcRect l="46702" t="23437" r="1981" b="49109"/>
          <a:stretch/>
        </p:blipFill>
        <p:spPr>
          <a:xfrm>
            <a:off x="750366" y="2206636"/>
            <a:ext cx="10388099" cy="3927309"/>
          </a:xfrm>
        </p:spPr>
      </p:pic>
      <p:sp>
        <p:nvSpPr>
          <p:cNvPr id="2" name="Titolo 1">
            <a:extLst>
              <a:ext uri="{FF2B5EF4-FFF2-40B4-BE49-F238E27FC236}">
                <a16:creationId xmlns:a16="http://schemas.microsoft.com/office/drawing/2014/main" id="{6F154FA3-28A2-463C-ED6A-A5D0C910C6ED}"/>
              </a:ext>
            </a:extLst>
          </p:cNvPr>
          <p:cNvSpPr>
            <a:spLocks noGrp="1"/>
          </p:cNvSpPr>
          <p:nvPr>
            <p:ph type="title"/>
          </p:nvPr>
        </p:nvSpPr>
        <p:spPr>
          <a:xfrm>
            <a:off x="750366" y="899044"/>
            <a:ext cx="10691265" cy="1307592"/>
          </a:xfrm>
        </p:spPr>
        <p:txBody>
          <a:bodyPr/>
          <a:lstStyle/>
          <a:p>
            <a:pPr algn="ctr"/>
            <a:r>
              <a:rPr lang="it-IT" dirty="0"/>
              <a:t>Application design</a:t>
            </a:r>
          </a:p>
        </p:txBody>
      </p:sp>
      <p:sp>
        <p:nvSpPr>
          <p:cNvPr id="4" name="CasellaDiTesto 3">
            <a:extLst>
              <a:ext uri="{FF2B5EF4-FFF2-40B4-BE49-F238E27FC236}">
                <a16:creationId xmlns:a16="http://schemas.microsoft.com/office/drawing/2014/main" id="{BE3916AD-8439-0B84-C86D-96EBCB8BE79F}"/>
              </a:ext>
            </a:extLst>
          </p:cNvPr>
          <p:cNvSpPr txBox="1"/>
          <p:nvPr/>
        </p:nvSpPr>
        <p:spPr>
          <a:xfrm>
            <a:off x="4863388" y="1552840"/>
            <a:ext cx="2465227" cy="646331"/>
          </a:xfrm>
          <a:prstGeom prst="rect">
            <a:avLst/>
          </a:prstGeom>
          <a:noFill/>
        </p:spPr>
        <p:txBody>
          <a:bodyPr wrap="none" rtlCol="0">
            <a:spAutoFit/>
          </a:bodyPr>
          <a:lstStyle/>
          <a:p>
            <a:pPr algn="ctr"/>
            <a:r>
              <a:rPr lang="it-IT" dirty="0"/>
              <a:t>HTML Puro</a:t>
            </a:r>
          </a:p>
          <a:p>
            <a:pPr algn="ctr"/>
            <a:r>
              <a:rPr lang="it-IT" dirty="0"/>
              <a:t>Vendo – </a:t>
            </a:r>
            <a:r>
              <a:rPr lang="it-IT" dirty="0" err="1"/>
              <a:t>DettaglioAsta</a:t>
            </a:r>
            <a:endParaRPr lang="it-IT" dirty="0"/>
          </a:p>
        </p:txBody>
      </p:sp>
    </p:spTree>
    <p:extLst>
      <p:ext uri="{BB962C8B-B14F-4D97-AF65-F5344CB8AC3E}">
        <p14:creationId xmlns:p14="http://schemas.microsoft.com/office/powerpoint/2010/main" val="3367657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D907F-C747-B786-DB2C-1DD36AC4C1A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9D250C9-466A-52CA-C856-58FBF1CC6B4C}"/>
              </a:ext>
            </a:extLst>
          </p:cNvPr>
          <p:cNvSpPr>
            <a:spLocks noGrp="1"/>
          </p:cNvSpPr>
          <p:nvPr>
            <p:ph type="title"/>
          </p:nvPr>
        </p:nvSpPr>
        <p:spPr>
          <a:xfrm>
            <a:off x="750366" y="899044"/>
            <a:ext cx="10691265" cy="1307592"/>
          </a:xfrm>
        </p:spPr>
        <p:txBody>
          <a:bodyPr/>
          <a:lstStyle/>
          <a:p>
            <a:pPr algn="ctr"/>
            <a:r>
              <a:rPr lang="it-IT" dirty="0"/>
              <a:t>Application design</a:t>
            </a:r>
          </a:p>
        </p:txBody>
      </p:sp>
      <p:sp>
        <p:nvSpPr>
          <p:cNvPr id="4" name="CasellaDiTesto 3">
            <a:extLst>
              <a:ext uri="{FF2B5EF4-FFF2-40B4-BE49-F238E27FC236}">
                <a16:creationId xmlns:a16="http://schemas.microsoft.com/office/drawing/2014/main" id="{0A51C5C5-95B1-B942-B6D5-2948894D101E}"/>
              </a:ext>
            </a:extLst>
          </p:cNvPr>
          <p:cNvSpPr txBox="1"/>
          <p:nvPr/>
        </p:nvSpPr>
        <p:spPr>
          <a:xfrm>
            <a:off x="4956237" y="1552840"/>
            <a:ext cx="2279535" cy="646331"/>
          </a:xfrm>
          <a:prstGeom prst="rect">
            <a:avLst/>
          </a:prstGeom>
          <a:noFill/>
        </p:spPr>
        <p:txBody>
          <a:bodyPr wrap="none" rtlCol="0">
            <a:spAutoFit/>
          </a:bodyPr>
          <a:lstStyle/>
          <a:p>
            <a:pPr algn="ctr"/>
            <a:r>
              <a:rPr lang="it-IT" dirty="0"/>
              <a:t>RIA</a:t>
            </a:r>
          </a:p>
          <a:p>
            <a:pPr algn="ctr"/>
            <a:r>
              <a:rPr lang="it-IT" dirty="0"/>
              <a:t>Login - Registrazione</a:t>
            </a:r>
          </a:p>
        </p:txBody>
      </p:sp>
      <p:pic>
        <p:nvPicPr>
          <p:cNvPr id="7" name="Segnaposto contenuto 6">
            <a:extLst>
              <a:ext uri="{FF2B5EF4-FFF2-40B4-BE49-F238E27FC236}">
                <a16:creationId xmlns:a16="http://schemas.microsoft.com/office/drawing/2014/main" id="{99B992D6-FCB9-7E10-D46B-D0C03C6E3075}"/>
              </a:ext>
            </a:extLst>
          </p:cNvPr>
          <p:cNvPicPr>
            <a:picLocks noGrp="1" noChangeAspect="1"/>
          </p:cNvPicPr>
          <p:nvPr>
            <p:ph idx="1"/>
          </p:nvPr>
        </p:nvPicPr>
        <p:blipFill>
          <a:blip r:embed="rId2"/>
          <a:srcRect t="30434" r="59453" b="44678"/>
          <a:stretch/>
        </p:blipFill>
        <p:spPr>
          <a:xfrm>
            <a:off x="1770405" y="2206636"/>
            <a:ext cx="8651190" cy="3752320"/>
          </a:xfrm>
        </p:spPr>
      </p:pic>
    </p:spTree>
    <p:extLst>
      <p:ext uri="{BB962C8B-B14F-4D97-AF65-F5344CB8AC3E}">
        <p14:creationId xmlns:p14="http://schemas.microsoft.com/office/powerpoint/2010/main" val="3814917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E0447-BC87-4F64-3BF6-1AF2E095D7A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C52795C-EA6F-E2DA-C6DF-06AA28C9AE33}"/>
              </a:ext>
            </a:extLst>
          </p:cNvPr>
          <p:cNvSpPr>
            <a:spLocks noGrp="1"/>
          </p:cNvSpPr>
          <p:nvPr>
            <p:ph type="title"/>
          </p:nvPr>
        </p:nvSpPr>
        <p:spPr>
          <a:xfrm>
            <a:off x="750366" y="899044"/>
            <a:ext cx="10691265" cy="1307592"/>
          </a:xfrm>
        </p:spPr>
        <p:txBody>
          <a:bodyPr/>
          <a:lstStyle/>
          <a:p>
            <a:pPr algn="ctr"/>
            <a:r>
              <a:rPr lang="it-IT" dirty="0"/>
              <a:t>Application design</a:t>
            </a:r>
          </a:p>
        </p:txBody>
      </p:sp>
      <p:pic>
        <p:nvPicPr>
          <p:cNvPr id="8" name="Segnaposto contenuto 7">
            <a:extLst>
              <a:ext uri="{FF2B5EF4-FFF2-40B4-BE49-F238E27FC236}">
                <a16:creationId xmlns:a16="http://schemas.microsoft.com/office/drawing/2014/main" id="{F036E0E4-B818-C3AD-5C46-5F44E112E00E}"/>
              </a:ext>
            </a:extLst>
          </p:cNvPr>
          <p:cNvPicPr>
            <a:picLocks noGrp="1" noChangeAspect="1"/>
          </p:cNvPicPr>
          <p:nvPr>
            <p:ph idx="1"/>
          </p:nvPr>
        </p:nvPicPr>
        <p:blipFill>
          <a:blip r:embed="rId2"/>
          <a:srcRect l="41048" t="1974" r="-880" b="65787"/>
          <a:stretch/>
        </p:blipFill>
        <p:spPr>
          <a:xfrm>
            <a:off x="839472" y="2106406"/>
            <a:ext cx="10513051" cy="4002846"/>
          </a:xfrm>
        </p:spPr>
      </p:pic>
      <p:sp>
        <p:nvSpPr>
          <p:cNvPr id="4" name="CasellaDiTesto 3">
            <a:extLst>
              <a:ext uri="{FF2B5EF4-FFF2-40B4-BE49-F238E27FC236}">
                <a16:creationId xmlns:a16="http://schemas.microsoft.com/office/drawing/2014/main" id="{FFA53688-DFF4-A962-3555-E007613857C9}"/>
              </a:ext>
            </a:extLst>
          </p:cNvPr>
          <p:cNvSpPr txBox="1"/>
          <p:nvPr/>
        </p:nvSpPr>
        <p:spPr>
          <a:xfrm>
            <a:off x="6529928" y="1562641"/>
            <a:ext cx="1941622" cy="646331"/>
          </a:xfrm>
          <a:prstGeom prst="rect">
            <a:avLst/>
          </a:prstGeom>
          <a:noFill/>
        </p:spPr>
        <p:txBody>
          <a:bodyPr wrap="none" rtlCol="0">
            <a:spAutoFit/>
          </a:bodyPr>
          <a:lstStyle/>
          <a:p>
            <a:pPr algn="ctr"/>
            <a:r>
              <a:rPr lang="it-IT" dirty="0"/>
              <a:t>RIA</a:t>
            </a:r>
          </a:p>
          <a:p>
            <a:pPr algn="ctr"/>
            <a:r>
              <a:rPr lang="it-IT" dirty="0"/>
              <a:t>Acquisto - Offerta</a:t>
            </a:r>
          </a:p>
        </p:txBody>
      </p:sp>
      <p:sp>
        <p:nvSpPr>
          <p:cNvPr id="9" name="Rettangolo 8">
            <a:extLst>
              <a:ext uri="{FF2B5EF4-FFF2-40B4-BE49-F238E27FC236}">
                <a16:creationId xmlns:a16="http://schemas.microsoft.com/office/drawing/2014/main" id="{06617D77-6BD0-6D40-2971-A1E5DA6A75D5}"/>
              </a:ext>
            </a:extLst>
          </p:cNvPr>
          <p:cNvSpPr/>
          <p:nvPr/>
        </p:nvSpPr>
        <p:spPr>
          <a:xfrm>
            <a:off x="7379594" y="5267459"/>
            <a:ext cx="1493950" cy="841793"/>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36948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0511B-E08F-0C75-6FED-F455E7619F6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3FC97E9-9904-9721-03F5-B85D254A9FAF}"/>
              </a:ext>
            </a:extLst>
          </p:cNvPr>
          <p:cNvSpPr>
            <a:spLocks noGrp="1"/>
          </p:cNvSpPr>
          <p:nvPr>
            <p:ph type="title"/>
          </p:nvPr>
        </p:nvSpPr>
        <p:spPr>
          <a:xfrm>
            <a:off x="750366" y="899044"/>
            <a:ext cx="10691265" cy="1307592"/>
          </a:xfrm>
        </p:spPr>
        <p:txBody>
          <a:bodyPr/>
          <a:lstStyle/>
          <a:p>
            <a:pPr algn="ctr"/>
            <a:r>
              <a:rPr lang="it-IT" dirty="0"/>
              <a:t>Application design</a:t>
            </a:r>
          </a:p>
        </p:txBody>
      </p:sp>
      <p:pic>
        <p:nvPicPr>
          <p:cNvPr id="8" name="Segnaposto contenuto 7">
            <a:extLst>
              <a:ext uri="{FF2B5EF4-FFF2-40B4-BE49-F238E27FC236}">
                <a16:creationId xmlns:a16="http://schemas.microsoft.com/office/drawing/2014/main" id="{01AD9FC7-1D01-5D81-9202-4137747C05F3}"/>
              </a:ext>
            </a:extLst>
          </p:cNvPr>
          <p:cNvPicPr>
            <a:picLocks noGrp="1" noChangeAspect="1"/>
          </p:cNvPicPr>
          <p:nvPr>
            <p:ph idx="1"/>
          </p:nvPr>
        </p:nvPicPr>
        <p:blipFill>
          <a:blip r:embed="rId2"/>
          <a:srcRect l="39661" t="27170" r="507" b="29914"/>
          <a:stretch/>
        </p:blipFill>
        <p:spPr>
          <a:xfrm>
            <a:off x="1969026" y="1897354"/>
            <a:ext cx="8253943" cy="4183522"/>
          </a:xfrm>
        </p:spPr>
      </p:pic>
      <p:sp>
        <p:nvSpPr>
          <p:cNvPr id="3" name="Rettangolo 2">
            <a:extLst>
              <a:ext uri="{FF2B5EF4-FFF2-40B4-BE49-F238E27FC236}">
                <a16:creationId xmlns:a16="http://schemas.microsoft.com/office/drawing/2014/main" id="{FFD7DC9F-5BDB-9077-EC0F-C69B25DDAAFD}"/>
              </a:ext>
            </a:extLst>
          </p:cNvPr>
          <p:cNvSpPr/>
          <p:nvPr/>
        </p:nvSpPr>
        <p:spPr>
          <a:xfrm>
            <a:off x="1788160" y="1625496"/>
            <a:ext cx="497840" cy="924664"/>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F511D788-25A4-5D69-2A03-7529CB926ABE}"/>
              </a:ext>
            </a:extLst>
          </p:cNvPr>
          <p:cNvSpPr/>
          <p:nvPr/>
        </p:nvSpPr>
        <p:spPr>
          <a:xfrm>
            <a:off x="2286000" y="1463040"/>
            <a:ext cx="1412240" cy="62478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Rettangolo 5">
            <a:extLst>
              <a:ext uri="{FF2B5EF4-FFF2-40B4-BE49-F238E27FC236}">
                <a16:creationId xmlns:a16="http://schemas.microsoft.com/office/drawing/2014/main" id="{3F3FEF41-AC7A-9245-8518-5EE5CE95973A}"/>
              </a:ext>
            </a:extLst>
          </p:cNvPr>
          <p:cNvSpPr/>
          <p:nvPr/>
        </p:nvSpPr>
        <p:spPr>
          <a:xfrm>
            <a:off x="5055604" y="1843410"/>
            <a:ext cx="1198880" cy="534988"/>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CasellaDiTesto 3">
            <a:extLst>
              <a:ext uri="{FF2B5EF4-FFF2-40B4-BE49-F238E27FC236}">
                <a16:creationId xmlns:a16="http://schemas.microsoft.com/office/drawing/2014/main" id="{0FF9E60E-DD7D-0A21-7EA1-89130A1BAAE4}"/>
              </a:ext>
            </a:extLst>
          </p:cNvPr>
          <p:cNvSpPr txBox="1"/>
          <p:nvPr/>
        </p:nvSpPr>
        <p:spPr>
          <a:xfrm>
            <a:off x="4917084" y="1564425"/>
            <a:ext cx="2357826" cy="646331"/>
          </a:xfrm>
          <a:prstGeom prst="rect">
            <a:avLst/>
          </a:prstGeom>
          <a:noFill/>
        </p:spPr>
        <p:txBody>
          <a:bodyPr wrap="none" rtlCol="0">
            <a:spAutoFit/>
          </a:bodyPr>
          <a:lstStyle/>
          <a:p>
            <a:pPr algn="ctr"/>
            <a:r>
              <a:rPr lang="it-IT" dirty="0"/>
              <a:t>RIA</a:t>
            </a:r>
          </a:p>
          <a:p>
            <a:pPr algn="ctr"/>
            <a:r>
              <a:rPr lang="it-IT" dirty="0"/>
              <a:t>Vendo - </a:t>
            </a:r>
            <a:r>
              <a:rPr lang="it-IT" dirty="0" err="1"/>
              <a:t>DettaglioAsta</a:t>
            </a:r>
            <a:endParaRPr lang="it-IT" dirty="0"/>
          </a:p>
        </p:txBody>
      </p:sp>
    </p:spTree>
    <p:extLst>
      <p:ext uri="{BB962C8B-B14F-4D97-AF65-F5344CB8AC3E}">
        <p14:creationId xmlns:p14="http://schemas.microsoft.com/office/powerpoint/2010/main" val="1866937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D6C7BB-6B1F-CFBB-41A2-FD888EDE59E3}"/>
              </a:ext>
            </a:extLst>
          </p:cNvPr>
          <p:cNvSpPr>
            <a:spLocks noGrp="1"/>
          </p:cNvSpPr>
          <p:nvPr>
            <p:ph type="title"/>
          </p:nvPr>
        </p:nvSpPr>
        <p:spPr/>
        <p:txBody>
          <a:bodyPr/>
          <a:lstStyle/>
          <a:p>
            <a:pPr algn="ctr"/>
            <a:r>
              <a:rPr lang="it-IT" dirty="0"/>
              <a:t>Componenti – server side</a:t>
            </a:r>
          </a:p>
        </p:txBody>
      </p:sp>
      <p:sp>
        <p:nvSpPr>
          <p:cNvPr id="3" name="Segnaposto contenuto 2">
            <a:extLst>
              <a:ext uri="{FF2B5EF4-FFF2-40B4-BE49-F238E27FC236}">
                <a16:creationId xmlns:a16="http://schemas.microsoft.com/office/drawing/2014/main" id="{EF3ED63B-DBF7-3AF2-9925-767852A55963}"/>
              </a:ext>
            </a:extLst>
          </p:cNvPr>
          <p:cNvSpPr>
            <a:spLocks noGrp="1"/>
          </p:cNvSpPr>
          <p:nvPr>
            <p:ph idx="1"/>
          </p:nvPr>
        </p:nvSpPr>
        <p:spPr>
          <a:xfrm>
            <a:off x="357735" y="2221992"/>
            <a:ext cx="2842665" cy="3739896"/>
          </a:xfrm>
        </p:spPr>
        <p:txBody>
          <a:bodyPr>
            <a:normAutofit fontScale="77500" lnSpcReduction="20000"/>
          </a:bodyPr>
          <a:lstStyle/>
          <a:p>
            <a:r>
              <a:rPr lang="it-IT" b="1" dirty="0"/>
              <a:t>Controllers</a:t>
            </a:r>
          </a:p>
          <a:p>
            <a:pPr lvl="1">
              <a:buFont typeface="Courier New" panose="02070309020205020404" pitchFamily="49" charset="0"/>
              <a:buChar char="o"/>
            </a:pPr>
            <a:r>
              <a:rPr lang="it-IT" sz="1500" dirty="0"/>
              <a:t>Login</a:t>
            </a:r>
          </a:p>
          <a:p>
            <a:pPr lvl="1">
              <a:buFont typeface="Courier New" panose="02070309020205020404" pitchFamily="49" charset="0"/>
              <a:buChar char="o"/>
            </a:pPr>
            <a:r>
              <a:rPr lang="it-IT" sz="1500" dirty="0" err="1"/>
              <a:t>SignUp</a:t>
            </a:r>
            <a:endParaRPr lang="it-IT" sz="1500" dirty="0"/>
          </a:p>
          <a:p>
            <a:pPr lvl="1">
              <a:buFont typeface="Courier New" panose="02070309020205020404" pitchFamily="49" charset="0"/>
              <a:buChar char="o"/>
            </a:pPr>
            <a:r>
              <a:rPr lang="it-IT" sz="1500" dirty="0" err="1"/>
              <a:t>HomeServlet</a:t>
            </a:r>
            <a:endParaRPr lang="it-IT" sz="1500" dirty="0"/>
          </a:p>
          <a:p>
            <a:pPr lvl="1">
              <a:buFont typeface="Courier New" panose="02070309020205020404" pitchFamily="49" charset="0"/>
              <a:buChar char="o"/>
            </a:pPr>
            <a:r>
              <a:rPr lang="it-IT" sz="1500" dirty="0"/>
              <a:t>Logout</a:t>
            </a:r>
          </a:p>
          <a:p>
            <a:pPr lvl="1">
              <a:buFont typeface="Courier New" panose="02070309020205020404" pitchFamily="49" charset="0"/>
              <a:buChar char="o"/>
            </a:pPr>
            <a:r>
              <a:rPr lang="it-IT" sz="1500" dirty="0" err="1"/>
              <a:t>AcquistoServlet</a:t>
            </a:r>
            <a:endParaRPr lang="it-IT" sz="1500" dirty="0"/>
          </a:p>
          <a:p>
            <a:pPr lvl="1">
              <a:buFont typeface="Courier New" panose="02070309020205020404" pitchFamily="49" charset="0"/>
              <a:buChar char="o"/>
            </a:pPr>
            <a:r>
              <a:rPr lang="it-IT" sz="1500" dirty="0" err="1"/>
              <a:t>OfferteServlet</a:t>
            </a:r>
            <a:endParaRPr lang="it-IT" sz="1500" dirty="0"/>
          </a:p>
          <a:p>
            <a:pPr lvl="1">
              <a:buFont typeface="Courier New" panose="02070309020205020404" pitchFamily="49" charset="0"/>
              <a:buChar char="o"/>
            </a:pPr>
            <a:r>
              <a:rPr lang="it-IT" sz="1500" dirty="0" err="1"/>
              <a:t>FaiOfferta</a:t>
            </a:r>
            <a:endParaRPr lang="it-IT" sz="1500" dirty="0"/>
          </a:p>
          <a:p>
            <a:pPr lvl="1">
              <a:buFont typeface="Courier New" panose="02070309020205020404" pitchFamily="49" charset="0"/>
              <a:buChar char="o"/>
            </a:pPr>
            <a:r>
              <a:rPr lang="it-IT" sz="1500" dirty="0" err="1"/>
              <a:t>VendoServlet</a:t>
            </a:r>
            <a:endParaRPr lang="it-IT" sz="1500" dirty="0"/>
          </a:p>
          <a:p>
            <a:pPr lvl="1">
              <a:buFont typeface="Courier New" panose="02070309020205020404" pitchFamily="49" charset="0"/>
              <a:buChar char="o"/>
            </a:pPr>
            <a:r>
              <a:rPr lang="it-IT" sz="1500" dirty="0" err="1"/>
              <a:t>AggiungiArticolo</a:t>
            </a:r>
            <a:endParaRPr lang="it-IT" sz="1500" dirty="0"/>
          </a:p>
          <a:p>
            <a:pPr lvl="1">
              <a:buFont typeface="Courier New" panose="02070309020205020404" pitchFamily="49" charset="0"/>
              <a:buChar char="o"/>
            </a:pPr>
            <a:r>
              <a:rPr lang="it-IT" sz="1500" dirty="0" err="1"/>
              <a:t>CreaAsta</a:t>
            </a:r>
            <a:endParaRPr lang="it-IT" sz="1500" dirty="0"/>
          </a:p>
          <a:p>
            <a:pPr lvl="1">
              <a:buFont typeface="Courier New" panose="02070309020205020404" pitchFamily="49" charset="0"/>
              <a:buChar char="o"/>
            </a:pPr>
            <a:r>
              <a:rPr lang="it-IT" sz="1500" dirty="0" err="1"/>
              <a:t>DettaglioAstaServlet</a:t>
            </a:r>
            <a:endParaRPr lang="it-IT" sz="1500" dirty="0"/>
          </a:p>
          <a:p>
            <a:pPr lvl="1">
              <a:buFont typeface="Courier New" panose="02070309020205020404" pitchFamily="49" charset="0"/>
              <a:buChar char="o"/>
            </a:pPr>
            <a:r>
              <a:rPr lang="it-IT" sz="1500" dirty="0" err="1"/>
              <a:t>ChiudiAsta</a:t>
            </a:r>
            <a:endParaRPr lang="it-IT" sz="1500" dirty="0"/>
          </a:p>
          <a:p>
            <a:pPr lvl="1">
              <a:buFont typeface="Courier New" panose="02070309020205020404" pitchFamily="49" charset="0"/>
              <a:buChar char="o"/>
            </a:pPr>
            <a:r>
              <a:rPr lang="it-IT" sz="1500" dirty="0"/>
              <a:t>(</a:t>
            </a:r>
            <a:r>
              <a:rPr lang="it-IT" sz="1500" dirty="0" err="1"/>
              <a:t>CaricaListeAperte</a:t>
            </a:r>
            <a:r>
              <a:rPr lang="it-IT" sz="1500" dirty="0"/>
              <a:t>)</a:t>
            </a:r>
          </a:p>
          <a:p>
            <a:pPr lvl="1">
              <a:buFont typeface="Courier New" panose="02070309020205020404" pitchFamily="49" charset="0"/>
              <a:buChar char="o"/>
            </a:pPr>
            <a:r>
              <a:rPr lang="it-IT" sz="1500" dirty="0"/>
              <a:t>(</a:t>
            </a:r>
            <a:r>
              <a:rPr lang="it-IT" sz="1500" dirty="0" err="1"/>
              <a:t>CaricaListeChiuse</a:t>
            </a:r>
            <a:r>
              <a:rPr lang="it-IT" sz="1500" dirty="0"/>
              <a:t>)</a:t>
            </a:r>
          </a:p>
          <a:p>
            <a:pPr lvl="1">
              <a:buFont typeface="Courier New" panose="02070309020205020404" pitchFamily="49" charset="0"/>
              <a:buChar char="o"/>
            </a:pPr>
            <a:r>
              <a:rPr lang="it-IT" sz="1500" dirty="0"/>
              <a:t>(</a:t>
            </a:r>
            <a:r>
              <a:rPr lang="it-IT" sz="1500" dirty="0" err="1"/>
              <a:t>GetArticoliServlet</a:t>
            </a:r>
            <a:r>
              <a:rPr lang="it-IT" sz="1500" dirty="0"/>
              <a:t>)</a:t>
            </a:r>
          </a:p>
          <a:p>
            <a:pPr lvl="1">
              <a:buFont typeface="Courier New" panose="02070309020205020404" pitchFamily="49" charset="0"/>
              <a:buChar char="o"/>
            </a:pPr>
            <a:endParaRPr lang="it-IT" sz="1400" dirty="0"/>
          </a:p>
        </p:txBody>
      </p:sp>
      <p:sp>
        <p:nvSpPr>
          <p:cNvPr id="4" name="CasellaDiTesto 3">
            <a:extLst>
              <a:ext uri="{FF2B5EF4-FFF2-40B4-BE49-F238E27FC236}">
                <a16:creationId xmlns:a16="http://schemas.microsoft.com/office/drawing/2014/main" id="{46BD92E7-72C8-8FAE-B736-B79045052FFF}"/>
              </a:ext>
            </a:extLst>
          </p:cNvPr>
          <p:cNvSpPr txBox="1"/>
          <p:nvPr/>
        </p:nvSpPr>
        <p:spPr>
          <a:xfrm>
            <a:off x="5073123" y="1568196"/>
            <a:ext cx="2045753" cy="369332"/>
          </a:xfrm>
          <a:prstGeom prst="rect">
            <a:avLst/>
          </a:prstGeom>
          <a:noFill/>
        </p:spPr>
        <p:txBody>
          <a:bodyPr wrap="none" rtlCol="0">
            <a:spAutoFit/>
          </a:bodyPr>
          <a:lstStyle/>
          <a:p>
            <a:r>
              <a:rPr lang="it-IT" dirty="0"/>
              <a:t>HTML Puro - RIA</a:t>
            </a:r>
          </a:p>
        </p:txBody>
      </p:sp>
      <p:sp>
        <p:nvSpPr>
          <p:cNvPr id="5" name="CasellaDiTesto 4">
            <a:extLst>
              <a:ext uri="{FF2B5EF4-FFF2-40B4-BE49-F238E27FC236}">
                <a16:creationId xmlns:a16="http://schemas.microsoft.com/office/drawing/2014/main" id="{F5E38487-1F3B-2390-895B-E466DBAE87B7}"/>
              </a:ext>
            </a:extLst>
          </p:cNvPr>
          <p:cNvSpPr txBox="1"/>
          <p:nvPr/>
        </p:nvSpPr>
        <p:spPr>
          <a:xfrm>
            <a:off x="700635" y="6246352"/>
            <a:ext cx="1322798" cy="369332"/>
          </a:xfrm>
          <a:prstGeom prst="rect">
            <a:avLst/>
          </a:prstGeom>
          <a:noFill/>
        </p:spPr>
        <p:txBody>
          <a:bodyPr wrap="none" rtlCol="0">
            <a:spAutoFit/>
          </a:bodyPr>
          <a:lstStyle/>
          <a:p>
            <a:r>
              <a:rPr lang="it-IT" dirty="0"/>
              <a:t>() Solo RIA</a:t>
            </a:r>
          </a:p>
        </p:txBody>
      </p:sp>
      <p:sp>
        <p:nvSpPr>
          <p:cNvPr id="7" name="Segnaposto contenuto 2">
            <a:extLst>
              <a:ext uri="{FF2B5EF4-FFF2-40B4-BE49-F238E27FC236}">
                <a16:creationId xmlns:a16="http://schemas.microsoft.com/office/drawing/2014/main" id="{76514C79-09F1-D373-2A71-82EBF4C7A64A}"/>
              </a:ext>
            </a:extLst>
          </p:cNvPr>
          <p:cNvSpPr txBox="1">
            <a:spLocks/>
          </p:cNvSpPr>
          <p:nvPr/>
        </p:nvSpPr>
        <p:spPr>
          <a:xfrm>
            <a:off x="2571348" y="2203704"/>
            <a:ext cx="3051810"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600" b="1" dirty="0"/>
              <a:t>Model Objects (</a:t>
            </a:r>
            <a:r>
              <a:rPr lang="it-IT" sz="1600" b="1" dirty="0" err="1"/>
              <a:t>beans</a:t>
            </a:r>
            <a:r>
              <a:rPr lang="it-IT" sz="1600" b="1" dirty="0"/>
              <a:t>)</a:t>
            </a:r>
          </a:p>
          <a:p>
            <a:pPr lvl="1">
              <a:buFont typeface="Courier New" panose="02070309020205020404" pitchFamily="49" charset="0"/>
              <a:buChar char="o"/>
            </a:pPr>
            <a:r>
              <a:rPr lang="it-IT" sz="1400" dirty="0"/>
              <a:t>Utente</a:t>
            </a:r>
          </a:p>
          <a:p>
            <a:pPr lvl="1">
              <a:buFont typeface="Courier New" panose="02070309020205020404" pitchFamily="49" charset="0"/>
              <a:buChar char="o"/>
            </a:pPr>
            <a:r>
              <a:rPr lang="it-IT" sz="1400" dirty="0"/>
              <a:t>Asta</a:t>
            </a:r>
          </a:p>
          <a:p>
            <a:pPr lvl="1">
              <a:buFont typeface="Courier New" panose="02070309020205020404" pitchFamily="49" charset="0"/>
              <a:buChar char="o"/>
            </a:pPr>
            <a:r>
              <a:rPr lang="it-IT" sz="1400" dirty="0"/>
              <a:t>Articolo</a:t>
            </a:r>
          </a:p>
          <a:p>
            <a:pPr lvl="1">
              <a:buFont typeface="Courier New" panose="02070309020205020404" pitchFamily="49" charset="0"/>
              <a:buChar char="o"/>
            </a:pPr>
            <a:r>
              <a:rPr lang="it-IT" sz="1400" dirty="0"/>
              <a:t>Offerta</a:t>
            </a:r>
          </a:p>
        </p:txBody>
      </p:sp>
      <p:sp>
        <p:nvSpPr>
          <p:cNvPr id="8" name="Segnaposto contenuto 2">
            <a:extLst>
              <a:ext uri="{FF2B5EF4-FFF2-40B4-BE49-F238E27FC236}">
                <a16:creationId xmlns:a16="http://schemas.microsoft.com/office/drawing/2014/main" id="{FC5F99C3-5F3E-F7DF-A486-5904BEB554DF}"/>
              </a:ext>
            </a:extLst>
          </p:cNvPr>
          <p:cNvSpPr txBox="1">
            <a:spLocks/>
          </p:cNvSpPr>
          <p:nvPr/>
        </p:nvSpPr>
        <p:spPr>
          <a:xfrm>
            <a:off x="5331236" y="2221992"/>
            <a:ext cx="3575279" cy="373989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600" b="1" dirty="0"/>
              <a:t>Data Access Objects (DAO)</a:t>
            </a:r>
          </a:p>
          <a:p>
            <a:pPr lvl="1">
              <a:buFont typeface="Courier New" panose="02070309020205020404" pitchFamily="49" charset="0"/>
              <a:buChar char="o"/>
            </a:pPr>
            <a:r>
              <a:rPr lang="it-IT" sz="1400" dirty="0" err="1"/>
              <a:t>UtenteDAO</a:t>
            </a:r>
            <a:endParaRPr lang="it-IT" sz="1400" dirty="0"/>
          </a:p>
          <a:p>
            <a:pPr lvl="2">
              <a:buFont typeface="Wingdings" pitchFamily="2" charset="2"/>
              <a:buChar char="§"/>
            </a:pPr>
            <a:r>
              <a:rPr lang="it-IT" sz="1200" dirty="0"/>
              <a:t>login()</a:t>
            </a:r>
          </a:p>
          <a:p>
            <a:pPr lvl="2">
              <a:buFont typeface="Wingdings" pitchFamily="2" charset="2"/>
              <a:buChar char="§"/>
            </a:pPr>
            <a:r>
              <a:rPr lang="it-IT" sz="1200" dirty="0" err="1"/>
              <a:t>checkRegistration</a:t>
            </a:r>
            <a:r>
              <a:rPr lang="it-IT" sz="1200" dirty="0"/>
              <a:t>()</a:t>
            </a:r>
          </a:p>
          <a:p>
            <a:pPr lvl="2">
              <a:buFont typeface="Wingdings" pitchFamily="2" charset="2"/>
              <a:buChar char="§"/>
            </a:pPr>
            <a:r>
              <a:rPr lang="it-IT" sz="1200" dirty="0" err="1"/>
              <a:t>signUp</a:t>
            </a:r>
            <a:r>
              <a:rPr lang="it-IT" sz="1200" dirty="0"/>
              <a:t>()</a:t>
            </a:r>
          </a:p>
          <a:p>
            <a:pPr lvl="2">
              <a:buFont typeface="Wingdings" pitchFamily="2" charset="2"/>
              <a:buChar char="§"/>
            </a:pPr>
            <a:r>
              <a:rPr lang="it-IT" sz="1200" dirty="0" err="1"/>
              <a:t>getUtenteByUsername</a:t>
            </a:r>
            <a:r>
              <a:rPr lang="it-IT" sz="1200" dirty="0"/>
              <a:t>()</a:t>
            </a:r>
          </a:p>
          <a:p>
            <a:pPr lvl="1">
              <a:buFont typeface="Courier New" panose="02070309020205020404" pitchFamily="49" charset="0"/>
              <a:buChar char="o"/>
            </a:pPr>
            <a:r>
              <a:rPr lang="it-IT" sz="1400" dirty="0" err="1"/>
              <a:t>AstaDAO</a:t>
            </a:r>
            <a:endParaRPr lang="it-IT" sz="1400" dirty="0"/>
          </a:p>
          <a:p>
            <a:pPr lvl="2">
              <a:buFont typeface="Wingdings" pitchFamily="2" charset="2"/>
              <a:buChar char="§"/>
            </a:pPr>
            <a:r>
              <a:rPr lang="it-IT" sz="1200" dirty="0" err="1"/>
              <a:t>getAsteAperteByKeyword</a:t>
            </a:r>
            <a:r>
              <a:rPr lang="it-IT" sz="1200" dirty="0"/>
              <a:t>()</a:t>
            </a:r>
          </a:p>
          <a:p>
            <a:pPr lvl="2">
              <a:buFont typeface="Wingdings" pitchFamily="2" charset="2"/>
              <a:buChar char="§"/>
            </a:pPr>
            <a:r>
              <a:rPr lang="it-IT" sz="1200" dirty="0" err="1">
                <a:effectLst/>
              </a:rPr>
              <a:t>getAsteVinteByUsername</a:t>
            </a:r>
            <a:r>
              <a:rPr lang="it-IT" sz="1200" dirty="0">
                <a:effectLst/>
              </a:rPr>
              <a:t>()</a:t>
            </a:r>
          </a:p>
          <a:p>
            <a:pPr lvl="2">
              <a:buFont typeface="Wingdings" pitchFamily="2" charset="2"/>
              <a:buChar char="§"/>
            </a:pPr>
            <a:r>
              <a:rPr lang="it-IT" sz="1200" dirty="0" err="1">
                <a:effectLst/>
              </a:rPr>
              <a:t>getAsteChiuseByUsername</a:t>
            </a:r>
            <a:r>
              <a:rPr lang="it-IT" sz="1200" dirty="0">
                <a:effectLst/>
              </a:rPr>
              <a:t>()</a:t>
            </a:r>
          </a:p>
          <a:p>
            <a:pPr lvl="2">
              <a:buFont typeface="Wingdings" pitchFamily="2" charset="2"/>
              <a:buChar char="§"/>
            </a:pPr>
            <a:r>
              <a:rPr lang="it-IT" sz="1200" dirty="0" err="1">
                <a:effectLst/>
              </a:rPr>
              <a:t>getAsteAperteByUsername</a:t>
            </a:r>
            <a:r>
              <a:rPr lang="it-IT" sz="1200" dirty="0">
                <a:effectLst/>
              </a:rPr>
              <a:t>()</a:t>
            </a:r>
          </a:p>
          <a:p>
            <a:pPr lvl="2">
              <a:buFont typeface="Wingdings" pitchFamily="2" charset="2"/>
              <a:buChar char="§"/>
            </a:pPr>
            <a:r>
              <a:rPr lang="it-IT" sz="1200" dirty="0" err="1">
                <a:effectLst/>
              </a:rPr>
              <a:t>getAstaById</a:t>
            </a:r>
            <a:r>
              <a:rPr lang="it-IT" sz="1200" dirty="0">
                <a:effectLst/>
              </a:rPr>
              <a:t>()</a:t>
            </a:r>
          </a:p>
          <a:p>
            <a:pPr lvl="2">
              <a:buFont typeface="Wingdings" pitchFamily="2" charset="2"/>
              <a:buChar char="§"/>
            </a:pPr>
            <a:r>
              <a:rPr lang="it-IT" sz="1200" dirty="0" err="1">
                <a:effectLst/>
              </a:rPr>
              <a:t>insertNewAsta</a:t>
            </a:r>
            <a:r>
              <a:rPr lang="it-IT" sz="1200" dirty="0">
                <a:effectLst/>
              </a:rPr>
              <a:t>()</a:t>
            </a:r>
          </a:p>
          <a:p>
            <a:pPr lvl="2">
              <a:buFont typeface="Wingdings" pitchFamily="2" charset="2"/>
              <a:buChar char="§"/>
            </a:pPr>
            <a:r>
              <a:rPr lang="it-IT" sz="1200" dirty="0" err="1">
                <a:effectLst/>
              </a:rPr>
              <a:t>chiudiAsta</a:t>
            </a:r>
            <a:r>
              <a:rPr lang="it-IT" sz="1200" dirty="0">
                <a:effectLst/>
              </a:rPr>
              <a:t>()</a:t>
            </a:r>
          </a:p>
        </p:txBody>
      </p:sp>
      <p:sp>
        <p:nvSpPr>
          <p:cNvPr id="9" name="Segnaposto contenuto 2">
            <a:extLst>
              <a:ext uri="{FF2B5EF4-FFF2-40B4-BE49-F238E27FC236}">
                <a16:creationId xmlns:a16="http://schemas.microsoft.com/office/drawing/2014/main" id="{17558987-2964-0F87-6946-EB57EB45F601}"/>
              </a:ext>
            </a:extLst>
          </p:cNvPr>
          <p:cNvSpPr txBox="1">
            <a:spLocks/>
          </p:cNvSpPr>
          <p:nvPr/>
        </p:nvSpPr>
        <p:spPr>
          <a:xfrm>
            <a:off x="8258986" y="2506456"/>
            <a:ext cx="3575279"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Courier New" panose="02070309020205020404" pitchFamily="49" charset="0"/>
              <a:buChar char="o"/>
            </a:pPr>
            <a:r>
              <a:rPr lang="it-IT" sz="1400" dirty="0" err="1"/>
              <a:t>ArticoloDAO</a:t>
            </a:r>
            <a:endParaRPr lang="it-IT" sz="1400" dirty="0"/>
          </a:p>
          <a:p>
            <a:pPr lvl="2">
              <a:buFont typeface="Wingdings" pitchFamily="2" charset="2"/>
              <a:buChar char="§"/>
            </a:pPr>
            <a:r>
              <a:rPr lang="it-IT" sz="1200" dirty="0" err="1">
                <a:effectLst/>
              </a:rPr>
              <a:t>addArticolo</a:t>
            </a:r>
            <a:r>
              <a:rPr lang="it-IT" sz="1200" dirty="0">
                <a:effectLst/>
              </a:rPr>
              <a:t>()</a:t>
            </a:r>
          </a:p>
          <a:p>
            <a:pPr lvl="2">
              <a:buFont typeface="Wingdings" pitchFamily="2" charset="2"/>
              <a:buChar char="§"/>
            </a:pPr>
            <a:r>
              <a:rPr lang="it-IT" sz="1200" dirty="0" err="1">
                <a:effectLst/>
              </a:rPr>
              <a:t>getArticoliDisponibili</a:t>
            </a:r>
            <a:r>
              <a:rPr lang="it-IT" sz="1200" dirty="0">
                <a:effectLst/>
              </a:rPr>
              <a:t>()</a:t>
            </a:r>
          </a:p>
          <a:p>
            <a:pPr lvl="2">
              <a:buFont typeface="Wingdings" pitchFamily="2" charset="2"/>
              <a:buChar char="§"/>
            </a:pPr>
            <a:r>
              <a:rPr lang="it-IT" sz="1200" dirty="0" err="1">
                <a:effectLst/>
              </a:rPr>
              <a:t>getArticoliByIdAsta</a:t>
            </a:r>
            <a:r>
              <a:rPr lang="it-IT" sz="1200" dirty="0">
                <a:effectLst/>
              </a:rPr>
              <a:t>()</a:t>
            </a:r>
          </a:p>
          <a:p>
            <a:pPr lvl="2">
              <a:buFont typeface="Wingdings" pitchFamily="2" charset="2"/>
              <a:buChar char="§"/>
            </a:pPr>
            <a:r>
              <a:rPr lang="it-IT" sz="1200" dirty="0" err="1">
                <a:effectLst/>
              </a:rPr>
              <a:t>areAllArticlesOfUser</a:t>
            </a:r>
            <a:r>
              <a:rPr lang="it-IT" sz="1200" dirty="0">
                <a:effectLst/>
              </a:rPr>
              <a:t>()</a:t>
            </a:r>
          </a:p>
          <a:p>
            <a:pPr lvl="2">
              <a:buFont typeface="Wingdings" pitchFamily="2" charset="2"/>
              <a:buChar char="§"/>
            </a:pPr>
            <a:r>
              <a:rPr lang="it-IT" sz="1200" dirty="0" err="1">
                <a:effectLst/>
              </a:rPr>
              <a:t>areAllArticlesFree</a:t>
            </a:r>
            <a:r>
              <a:rPr lang="it-IT" sz="1200" dirty="0">
                <a:effectLst/>
              </a:rPr>
              <a:t>()</a:t>
            </a:r>
          </a:p>
          <a:p>
            <a:pPr lvl="2">
              <a:buFont typeface="Wingdings" pitchFamily="2" charset="2"/>
              <a:buChar char="§"/>
            </a:pPr>
            <a:r>
              <a:rPr lang="it-IT" sz="1200" dirty="0" err="1">
                <a:effectLst/>
              </a:rPr>
              <a:t>getSumOfPrice</a:t>
            </a:r>
            <a:r>
              <a:rPr lang="it-IT" sz="1200" dirty="0">
                <a:effectLst/>
              </a:rPr>
              <a:t>()</a:t>
            </a:r>
          </a:p>
          <a:p>
            <a:pPr lvl="2">
              <a:buFont typeface="Wingdings" pitchFamily="2" charset="2"/>
              <a:buChar char="§"/>
            </a:pPr>
            <a:r>
              <a:rPr lang="it-IT" sz="1200" dirty="0" err="1">
                <a:effectLst/>
              </a:rPr>
              <a:t>updateIdAstaInArticles</a:t>
            </a:r>
            <a:r>
              <a:rPr lang="it-IT" sz="1200" dirty="0">
                <a:effectLst/>
              </a:rPr>
              <a:t>()</a:t>
            </a:r>
          </a:p>
          <a:p>
            <a:pPr lvl="2">
              <a:buFont typeface="Wingdings" pitchFamily="2" charset="2"/>
              <a:buChar char="§"/>
            </a:pPr>
            <a:r>
              <a:rPr lang="it-IT" sz="1200" dirty="0" err="1">
                <a:effectLst/>
              </a:rPr>
              <a:t>findArticlesByUser</a:t>
            </a:r>
            <a:r>
              <a:rPr lang="it-IT" sz="1200" dirty="0">
                <a:effectLst/>
              </a:rPr>
              <a:t>()</a:t>
            </a:r>
            <a:endParaRPr lang="it-IT" sz="1200" dirty="0"/>
          </a:p>
          <a:p>
            <a:pPr lvl="1">
              <a:buFont typeface="Courier New" panose="02070309020205020404" pitchFamily="49" charset="0"/>
              <a:buChar char="o"/>
            </a:pPr>
            <a:r>
              <a:rPr lang="it-IT" sz="1400" dirty="0" err="1"/>
              <a:t>OffertaDAO</a:t>
            </a:r>
            <a:endParaRPr lang="it-IT" sz="1400" dirty="0"/>
          </a:p>
          <a:p>
            <a:pPr lvl="2">
              <a:buFont typeface="Wingdings" pitchFamily="2" charset="2"/>
              <a:buChar char="§"/>
            </a:pPr>
            <a:r>
              <a:rPr lang="it-IT" sz="1200" dirty="0" err="1">
                <a:effectLst/>
              </a:rPr>
              <a:t>getOfferteByIdAsta</a:t>
            </a:r>
            <a:r>
              <a:rPr lang="it-IT" sz="1200" dirty="0">
                <a:effectLst/>
              </a:rPr>
              <a:t>()</a:t>
            </a:r>
          </a:p>
          <a:p>
            <a:pPr lvl="2">
              <a:buFont typeface="Wingdings" pitchFamily="2" charset="2"/>
              <a:buChar char="§"/>
            </a:pPr>
            <a:r>
              <a:rPr lang="it-IT" sz="1200" dirty="0" err="1">
                <a:effectLst/>
              </a:rPr>
              <a:t>getMaxOffertaByIdAsta</a:t>
            </a:r>
            <a:r>
              <a:rPr lang="it-IT" sz="1200" dirty="0">
                <a:effectLst/>
              </a:rPr>
              <a:t>()</a:t>
            </a:r>
          </a:p>
          <a:p>
            <a:pPr lvl="2">
              <a:buFont typeface="Wingdings" pitchFamily="2" charset="2"/>
              <a:buChar char="§"/>
            </a:pPr>
            <a:r>
              <a:rPr lang="it-IT" sz="1200" dirty="0" err="1">
                <a:effectLst/>
              </a:rPr>
              <a:t>addOfferta</a:t>
            </a:r>
            <a:r>
              <a:rPr lang="it-IT" sz="1200" dirty="0">
                <a:effectLst/>
              </a:rPr>
              <a:t>()</a:t>
            </a:r>
          </a:p>
          <a:p>
            <a:pPr lvl="2">
              <a:buFont typeface="Wingdings" pitchFamily="2" charset="2"/>
              <a:buChar char="§"/>
            </a:pPr>
            <a:endParaRPr lang="it-IT" sz="900" dirty="0"/>
          </a:p>
        </p:txBody>
      </p:sp>
    </p:spTree>
    <p:extLst>
      <p:ext uri="{BB962C8B-B14F-4D97-AF65-F5344CB8AC3E}">
        <p14:creationId xmlns:p14="http://schemas.microsoft.com/office/powerpoint/2010/main" val="1655587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2F65-028F-A28C-2740-A91BC4AB4C4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8E9E2F2-FB03-0F5B-9E43-A6091C0D8CCC}"/>
              </a:ext>
            </a:extLst>
          </p:cNvPr>
          <p:cNvSpPr>
            <a:spLocks noGrp="1"/>
          </p:cNvSpPr>
          <p:nvPr>
            <p:ph type="title"/>
          </p:nvPr>
        </p:nvSpPr>
        <p:spPr/>
        <p:txBody>
          <a:bodyPr/>
          <a:lstStyle/>
          <a:p>
            <a:pPr algn="ctr"/>
            <a:r>
              <a:rPr lang="it-IT" dirty="0"/>
              <a:t>Componenti – client side</a:t>
            </a:r>
          </a:p>
        </p:txBody>
      </p:sp>
      <p:sp>
        <p:nvSpPr>
          <p:cNvPr id="3" name="Segnaposto contenuto 2">
            <a:extLst>
              <a:ext uri="{FF2B5EF4-FFF2-40B4-BE49-F238E27FC236}">
                <a16:creationId xmlns:a16="http://schemas.microsoft.com/office/drawing/2014/main" id="{962A4388-9DBB-DA07-A6B2-D328B76D544B}"/>
              </a:ext>
            </a:extLst>
          </p:cNvPr>
          <p:cNvSpPr>
            <a:spLocks noGrp="1"/>
          </p:cNvSpPr>
          <p:nvPr>
            <p:ph idx="1"/>
          </p:nvPr>
        </p:nvSpPr>
        <p:spPr>
          <a:xfrm>
            <a:off x="276582" y="1752862"/>
            <a:ext cx="5088229" cy="3739896"/>
          </a:xfrm>
        </p:spPr>
        <p:txBody>
          <a:bodyPr>
            <a:normAutofit/>
          </a:bodyPr>
          <a:lstStyle/>
          <a:p>
            <a:r>
              <a:rPr lang="it-IT" b="1" dirty="0"/>
              <a:t>Home</a:t>
            </a:r>
          </a:p>
          <a:p>
            <a:pPr marL="457200" lvl="1" indent="0" eaLnBrk="0" fontAlgn="base" hangingPunct="0">
              <a:lnSpc>
                <a:spcPct val="100000"/>
              </a:lnSpc>
              <a:spcBef>
                <a:spcPct val="0"/>
              </a:spcBef>
              <a:spcAft>
                <a:spcPct val="0"/>
              </a:spcAft>
              <a:buFontTx/>
              <a:buChar char="•"/>
            </a:pPr>
            <a:r>
              <a:rPr lang="it-IT" altLang="it-IT" sz="1200" dirty="0" err="1">
                <a:latin typeface="Arial Unicode MS"/>
              </a:rPr>
              <a:t>showVendo</a:t>
            </a:r>
            <a:r>
              <a:rPr lang="it-IT" altLang="it-IT" sz="1200" dirty="0">
                <a:latin typeface="Arial Unicode MS"/>
              </a:rPr>
              <a:t>()</a:t>
            </a:r>
            <a:r>
              <a:rPr lang="it-IT" altLang="it-IT" sz="1200" dirty="0"/>
              <a:t> → mostra la pagina Vendo e nasconde le altre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showAcquisto</a:t>
            </a:r>
            <a:r>
              <a:rPr lang="it-IT" altLang="it-IT" sz="1200" dirty="0">
                <a:latin typeface="Arial Unicode MS"/>
              </a:rPr>
              <a:t>()</a:t>
            </a:r>
            <a:r>
              <a:rPr lang="it-IT" altLang="it-IT" sz="1200" dirty="0"/>
              <a:t> → mostra la pagina Acquisto e nasconde le altre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hideAllPages</a:t>
            </a:r>
            <a:r>
              <a:rPr lang="it-IT" altLang="it-IT" sz="1200" dirty="0">
                <a:latin typeface="Arial Unicode MS"/>
              </a:rPr>
              <a:t>()</a:t>
            </a:r>
            <a:r>
              <a:rPr lang="it-IT" altLang="it-IT" sz="1200" dirty="0"/>
              <a:t> → nasconde tutte le pagine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renderPageByLastAction</a:t>
            </a:r>
            <a:r>
              <a:rPr lang="it-IT" altLang="it-IT" sz="1200" dirty="0">
                <a:latin typeface="Arial Unicode MS"/>
              </a:rPr>
              <a:t>()</a:t>
            </a:r>
            <a:r>
              <a:rPr lang="it-IT" altLang="it-IT" sz="1200" dirty="0"/>
              <a:t> → apre Vendo o Acquisto in base all’ultima azione utente</a:t>
            </a:r>
            <a:endParaRPr lang="it-IT" sz="1200" b="1" dirty="0"/>
          </a:p>
          <a:p>
            <a:pPr lvl="1">
              <a:buFont typeface="Courier New" panose="02070309020205020404" pitchFamily="49" charset="0"/>
              <a:buChar char="o"/>
            </a:pPr>
            <a:endParaRPr lang="it-IT" b="1" dirty="0"/>
          </a:p>
          <a:p>
            <a:pPr lvl="1">
              <a:buFont typeface="Courier New" panose="02070309020205020404" pitchFamily="49" charset="0"/>
              <a:buChar char="o"/>
            </a:pPr>
            <a:endParaRPr lang="it-IT" sz="1400" dirty="0"/>
          </a:p>
        </p:txBody>
      </p:sp>
      <p:sp>
        <p:nvSpPr>
          <p:cNvPr id="4" name="CasellaDiTesto 3">
            <a:extLst>
              <a:ext uri="{FF2B5EF4-FFF2-40B4-BE49-F238E27FC236}">
                <a16:creationId xmlns:a16="http://schemas.microsoft.com/office/drawing/2014/main" id="{1292F17C-75CD-B5B0-8B0F-8B952D8EE178}"/>
              </a:ext>
            </a:extLst>
          </p:cNvPr>
          <p:cNvSpPr txBox="1"/>
          <p:nvPr/>
        </p:nvSpPr>
        <p:spPr>
          <a:xfrm>
            <a:off x="5788864" y="1568196"/>
            <a:ext cx="614271" cy="369332"/>
          </a:xfrm>
          <a:prstGeom prst="rect">
            <a:avLst/>
          </a:prstGeom>
          <a:noFill/>
        </p:spPr>
        <p:txBody>
          <a:bodyPr wrap="none" rtlCol="0">
            <a:spAutoFit/>
          </a:bodyPr>
          <a:lstStyle/>
          <a:p>
            <a:r>
              <a:rPr lang="it-IT" dirty="0"/>
              <a:t>RIA</a:t>
            </a:r>
          </a:p>
        </p:txBody>
      </p:sp>
      <p:sp>
        <p:nvSpPr>
          <p:cNvPr id="6" name="Segnaposto contenuto 2">
            <a:extLst>
              <a:ext uri="{FF2B5EF4-FFF2-40B4-BE49-F238E27FC236}">
                <a16:creationId xmlns:a16="http://schemas.microsoft.com/office/drawing/2014/main" id="{CEAA40AF-A523-5452-1183-34767D48E707}"/>
              </a:ext>
            </a:extLst>
          </p:cNvPr>
          <p:cNvSpPr txBox="1">
            <a:spLocks/>
          </p:cNvSpPr>
          <p:nvPr/>
        </p:nvSpPr>
        <p:spPr>
          <a:xfrm>
            <a:off x="276581" y="3060454"/>
            <a:ext cx="6075831"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Vendo</a:t>
            </a: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renderVendoPage</a:t>
            </a:r>
            <a:r>
              <a:rPr lang="it-IT" altLang="it-IT" sz="1200" dirty="0">
                <a:latin typeface="Arial Unicode MS"/>
              </a:rPr>
              <a:t>()</a:t>
            </a:r>
            <a:r>
              <a:rPr lang="it-IT" altLang="it-IT" sz="1200" dirty="0"/>
              <a:t> → inizializza pagina Vendo e collega i pulsanti</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aggiungiArticolo</a:t>
            </a:r>
            <a:r>
              <a:rPr lang="it-IT" altLang="it-IT" sz="1200" dirty="0">
                <a:latin typeface="Arial Unicode MS"/>
              </a:rPr>
              <a:t>()</a:t>
            </a:r>
            <a:r>
              <a:rPr lang="it-IT" altLang="it-IT" sz="1200" dirty="0"/>
              <a:t> → invia un nuovo articolo al server</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creaAsta</a:t>
            </a:r>
            <a:r>
              <a:rPr lang="it-IT" altLang="it-IT" sz="1200" dirty="0">
                <a:latin typeface="Arial Unicode MS"/>
              </a:rPr>
              <a:t>()</a:t>
            </a:r>
            <a:r>
              <a:rPr lang="it-IT" altLang="it-IT" sz="1200" dirty="0"/>
              <a:t> → crea una nuova asta con articoli selezionati</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aggiornaArticoliDisponibili</a:t>
            </a:r>
            <a:r>
              <a:rPr lang="it-IT" altLang="it-IT" sz="1200" dirty="0">
                <a:latin typeface="Arial Unicode MS"/>
              </a:rPr>
              <a:t>()</a:t>
            </a:r>
            <a:r>
              <a:rPr lang="it-IT" altLang="it-IT" sz="1200" dirty="0"/>
              <a:t> → aggiorna la lista articoli disponibili per asta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aggiungiArticoloAllaTabella</a:t>
            </a:r>
            <a:r>
              <a:rPr lang="it-IT" altLang="it-IT" sz="1200" dirty="0">
                <a:latin typeface="Arial Unicode MS"/>
              </a:rPr>
              <a:t>()</a:t>
            </a:r>
            <a:r>
              <a:rPr lang="it-IT" altLang="it-IT" sz="1200" dirty="0"/>
              <a:t> → aggiunge una riga articolo alla tabella nuova asta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caricaListeAperte</a:t>
            </a:r>
            <a:r>
              <a:rPr lang="it-IT" altLang="it-IT" sz="1200" dirty="0">
                <a:latin typeface="Arial Unicode MS"/>
              </a:rPr>
              <a:t>()</a:t>
            </a:r>
            <a:r>
              <a:rPr lang="it-IT" altLang="it-IT" sz="1200" dirty="0"/>
              <a:t> → carica e mostra le aste aperte dell’utente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caricaListeChiuse</a:t>
            </a:r>
            <a:r>
              <a:rPr lang="it-IT" altLang="it-IT" sz="1200" dirty="0">
                <a:latin typeface="Arial Unicode MS"/>
              </a:rPr>
              <a:t>()</a:t>
            </a:r>
            <a:r>
              <a:rPr lang="it-IT" altLang="it-IT" sz="1200" dirty="0"/>
              <a:t> → carica e mostra le aste chiuse dell’utente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inizializzaClickDettaglioAstaAperta</a:t>
            </a:r>
            <a:r>
              <a:rPr lang="it-IT" altLang="it-IT" sz="1200" dirty="0">
                <a:latin typeface="Arial Unicode MS"/>
              </a:rPr>
              <a:t>()</a:t>
            </a:r>
            <a:r>
              <a:rPr lang="it-IT" altLang="it-IT" sz="1200" dirty="0"/>
              <a:t> → click su ID asta aperta → dettaglio</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inizializzaClickDettaglioAsteChiuse</a:t>
            </a:r>
            <a:r>
              <a:rPr lang="it-IT" altLang="it-IT" sz="1200" dirty="0">
                <a:latin typeface="Arial Unicode MS"/>
              </a:rPr>
              <a:t>()</a:t>
            </a:r>
            <a:r>
              <a:rPr lang="it-IT" altLang="it-IT" sz="1200" dirty="0"/>
              <a:t> → click su ID asta chiusa → dettaglio</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resetMSG</a:t>
            </a:r>
            <a:r>
              <a:rPr lang="it-IT" altLang="it-IT" sz="1200" dirty="0">
                <a:latin typeface="Arial Unicode MS"/>
              </a:rPr>
              <a:t>()</a:t>
            </a:r>
            <a:r>
              <a:rPr lang="it-IT" altLang="it-IT" sz="1200" dirty="0"/>
              <a:t> → pulisce i messaggi a schermo</a:t>
            </a:r>
            <a:endParaRPr lang="it-IT" altLang="it-IT" sz="1200" dirty="0">
              <a:latin typeface="Arial" panose="020B0604020202020204" pitchFamily="34" charset="0"/>
            </a:endParaRPr>
          </a:p>
          <a:p>
            <a:pPr lvl="1"/>
            <a:endParaRPr lang="it-IT" b="1" dirty="0"/>
          </a:p>
          <a:p>
            <a:endParaRPr lang="it-IT" b="1" dirty="0"/>
          </a:p>
          <a:p>
            <a:endParaRPr lang="it-IT" b="1" dirty="0"/>
          </a:p>
          <a:p>
            <a:pPr lvl="1">
              <a:buFont typeface="Courier New" panose="02070309020205020404" pitchFamily="49" charset="0"/>
              <a:buChar char="o"/>
            </a:pPr>
            <a:endParaRPr lang="it-IT" b="1" dirty="0"/>
          </a:p>
          <a:p>
            <a:pPr lvl="1">
              <a:buFont typeface="Courier New" panose="02070309020205020404" pitchFamily="49" charset="0"/>
              <a:buChar char="o"/>
            </a:pPr>
            <a:endParaRPr lang="it-IT" sz="1400" dirty="0"/>
          </a:p>
        </p:txBody>
      </p:sp>
      <p:sp>
        <p:nvSpPr>
          <p:cNvPr id="10" name="Segnaposto contenuto 2">
            <a:extLst>
              <a:ext uri="{FF2B5EF4-FFF2-40B4-BE49-F238E27FC236}">
                <a16:creationId xmlns:a16="http://schemas.microsoft.com/office/drawing/2014/main" id="{BB2F039C-CB89-3612-7BCE-2D13D43443B9}"/>
              </a:ext>
            </a:extLst>
          </p:cNvPr>
          <p:cNvSpPr txBox="1">
            <a:spLocks/>
          </p:cNvSpPr>
          <p:nvPr/>
        </p:nvSpPr>
        <p:spPr>
          <a:xfrm>
            <a:off x="6172200" y="3549658"/>
            <a:ext cx="6019800"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err="1"/>
              <a:t>DettaglioAsta</a:t>
            </a:r>
            <a:endParaRPr lang="it-IT" b="1" dirty="0"/>
          </a:p>
          <a:p>
            <a:pPr marL="457200" lvl="1" indent="0" eaLnBrk="0" fontAlgn="base" hangingPunct="0">
              <a:lnSpc>
                <a:spcPct val="100000"/>
              </a:lnSpc>
              <a:spcBef>
                <a:spcPct val="0"/>
              </a:spcBef>
              <a:spcAft>
                <a:spcPct val="0"/>
              </a:spcAft>
              <a:buFontTx/>
              <a:buChar char="•"/>
            </a:pPr>
            <a:r>
              <a:rPr lang="it-IT" altLang="it-IT" sz="1200" dirty="0" err="1">
                <a:latin typeface="Arial Unicode MS"/>
              </a:rPr>
              <a:t>mostraDettaglioAstaAperta</a:t>
            </a:r>
            <a:r>
              <a:rPr lang="it-IT" altLang="it-IT" sz="1200" dirty="0">
                <a:latin typeface="Arial Unicode MS"/>
              </a:rPr>
              <a:t>(data)</a:t>
            </a:r>
            <a:r>
              <a:rPr lang="it-IT" altLang="it-IT" sz="1200" dirty="0"/>
              <a:t> → mostra dettagli e offerte di un’asta aperta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mostraDettaglioAstaChiusa</a:t>
            </a:r>
            <a:r>
              <a:rPr lang="it-IT" altLang="it-IT" sz="1200" dirty="0">
                <a:latin typeface="Arial Unicode MS"/>
              </a:rPr>
              <a:t>(data)</a:t>
            </a:r>
            <a:r>
              <a:rPr lang="it-IT" altLang="it-IT" sz="1200" dirty="0"/>
              <a:t> → mostra dettagli di un’asta chiusa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caricaChiudiAstaButton</a:t>
            </a:r>
            <a:r>
              <a:rPr lang="it-IT" altLang="it-IT" sz="1200" dirty="0">
                <a:latin typeface="Arial Unicode MS"/>
              </a:rPr>
              <a:t>()</a:t>
            </a:r>
            <a:r>
              <a:rPr lang="it-IT" altLang="it-IT" sz="1200" dirty="0"/>
              <a:t> → collega bottone “Chiudi asta” e invia richiesta al server</a:t>
            </a:r>
            <a:endParaRPr lang="it-IT" altLang="it-IT" sz="1200" dirty="0">
              <a:latin typeface="Arial" panose="020B0604020202020204" pitchFamily="34" charset="0"/>
            </a:endParaRPr>
          </a:p>
          <a:p>
            <a:pPr lvl="1"/>
            <a:endParaRPr lang="it-IT" b="1" dirty="0"/>
          </a:p>
          <a:p>
            <a:pPr lvl="1"/>
            <a:endParaRPr lang="it-IT" b="1" dirty="0"/>
          </a:p>
          <a:p>
            <a:pPr lvl="1">
              <a:buFont typeface="Courier New" panose="02070309020205020404" pitchFamily="49" charset="0"/>
              <a:buChar char="o"/>
            </a:pPr>
            <a:endParaRPr lang="it-IT" b="1" dirty="0"/>
          </a:p>
          <a:p>
            <a:pPr lvl="1">
              <a:buFont typeface="Courier New" panose="02070309020205020404" pitchFamily="49" charset="0"/>
              <a:buChar char="o"/>
            </a:pPr>
            <a:endParaRPr lang="it-IT" sz="1400" dirty="0"/>
          </a:p>
        </p:txBody>
      </p:sp>
      <p:sp>
        <p:nvSpPr>
          <p:cNvPr id="12" name="Segnaposto contenuto 2">
            <a:extLst>
              <a:ext uri="{FF2B5EF4-FFF2-40B4-BE49-F238E27FC236}">
                <a16:creationId xmlns:a16="http://schemas.microsoft.com/office/drawing/2014/main" id="{D04FA927-EC0F-E43A-1F4A-3B6FFE9AC345}"/>
              </a:ext>
            </a:extLst>
          </p:cNvPr>
          <p:cNvSpPr txBox="1">
            <a:spLocks/>
          </p:cNvSpPr>
          <p:nvPr/>
        </p:nvSpPr>
        <p:spPr>
          <a:xfrm>
            <a:off x="6095999" y="1870341"/>
            <a:ext cx="5682236"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Acquisto</a:t>
            </a: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renderAcquistoPage</a:t>
            </a:r>
            <a:r>
              <a:rPr lang="it-IT" altLang="it-IT" sz="1200" dirty="0">
                <a:latin typeface="Arial Unicode MS"/>
              </a:rPr>
              <a:t>()</a:t>
            </a:r>
            <a:r>
              <a:rPr lang="it-IT" altLang="it-IT" sz="1200" dirty="0"/>
              <a:t> → apre pagina Acquisto e collega pulsante ricerca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searchAstaByKeyword</a:t>
            </a:r>
            <a:r>
              <a:rPr lang="it-IT" altLang="it-IT" sz="1200" dirty="0">
                <a:latin typeface="Arial Unicode MS"/>
              </a:rPr>
              <a:t>()</a:t>
            </a:r>
            <a:r>
              <a:rPr lang="it-IT" altLang="it-IT" sz="1200" dirty="0"/>
              <a:t> → cerca aste per parola chiave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showAsteByKeyword</a:t>
            </a:r>
            <a:r>
              <a:rPr lang="it-IT" altLang="it-IT" sz="1200" dirty="0">
                <a:latin typeface="Arial Unicode MS"/>
              </a:rPr>
              <a:t>(</a:t>
            </a:r>
            <a:r>
              <a:rPr lang="it-IT" altLang="it-IT" sz="1200" dirty="0" err="1">
                <a:latin typeface="Arial Unicode MS"/>
              </a:rPr>
              <a:t>request</a:t>
            </a:r>
            <a:r>
              <a:rPr lang="it-IT" altLang="it-IT" sz="1200" dirty="0">
                <a:latin typeface="Arial Unicode MS"/>
              </a:rPr>
              <a:t>)</a:t>
            </a:r>
            <a:r>
              <a:rPr lang="it-IT" altLang="it-IT" sz="1200" dirty="0"/>
              <a:t> → mostra i risultati della ricerca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addAstaTrovataInTable</a:t>
            </a:r>
            <a:r>
              <a:rPr lang="it-IT" altLang="it-IT" sz="1200" dirty="0">
                <a:latin typeface="Arial Unicode MS"/>
              </a:rPr>
              <a:t>(asta)</a:t>
            </a:r>
            <a:r>
              <a:rPr lang="it-IT" altLang="it-IT" sz="1200" dirty="0"/>
              <a:t> → aggiunge una riga asta trovata in tabella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renderAsteVisionateEAggiudicate</a:t>
            </a:r>
            <a:r>
              <a:rPr lang="it-IT" altLang="it-IT" sz="1200" dirty="0">
                <a:latin typeface="Arial Unicode MS"/>
              </a:rPr>
              <a:t>()</a:t>
            </a:r>
            <a:r>
              <a:rPr lang="it-IT" altLang="it-IT" sz="1200" dirty="0"/>
              <a:t> → mostra aste visitate e vinte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addAstaVintaInTable</a:t>
            </a:r>
            <a:r>
              <a:rPr lang="it-IT" altLang="it-IT" sz="1200" dirty="0">
                <a:latin typeface="Arial Unicode MS"/>
              </a:rPr>
              <a:t>(asta)</a:t>
            </a:r>
            <a:r>
              <a:rPr lang="it-IT" altLang="it-IT" sz="1200" dirty="0"/>
              <a:t> → aggiunge asta vinta in tabella</a:t>
            </a:r>
            <a:endParaRPr lang="it-IT" altLang="it-IT" sz="1200" dirty="0">
              <a:latin typeface="Arial" panose="020B0604020202020204" pitchFamily="34" charset="0"/>
            </a:endParaRPr>
          </a:p>
          <a:p>
            <a:pPr lvl="1"/>
            <a:endParaRPr lang="it-IT" b="1" dirty="0"/>
          </a:p>
          <a:p>
            <a:pPr lvl="1">
              <a:buFont typeface="Courier New" panose="02070309020205020404" pitchFamily="49" charset="0"/>
              <a:buChar char="o"/>
            </a:pPr>
            <a:endParaRPr lang="it-IT" b="1" dirty="0"/>
          </a:p>
          <a:p>
            <a:pPr lvl="1">
              <a:buFont typeface="Courier New" panose="02070309020205020404" pitchFamily="49" charset="0"/>
              <a:buChar char="o"/>
            </a:pPr>
            <a:endParaRPr lang="it-IT" sz="1400" dirty="0"/>
          </a:p>
        </p:txBody>
      </p:sp>
      <p:sp>
        <p:nvSpPr>
          <p:cNvPr id="13" name="Segnaposto contenuto 2">
            <a:extLst>
              <a:ext uri="{FF2B5EF4-FFF2-40B4-BE49-F238E27FC236}">
                <a16:creationId xmlns:a16="http://schemas.microsoft.com/office/drawing/2014/main" id="{1F890BC6-1059-90D7-118F-9773B9012093}"/>
              </a:ext>
            </a:extLst>
          </p:cNvPr>
          <p:cNvSpPr txBox="1">
            <a:spLocks/>
          </p:cNvSpPr>
          <p:nvPr/>
        </p:nvSpPr>
        <p:spPr>
          <a:xfrm>
            <a:off x="6172200" y="4739771"/>
            <a:ext cx="5819419" cy="373989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b="1" dirty="0"/>
              <a:t>Offerta</a:t>
            </a:r>
          </a:p>
          <a:p>
            <a:pPr marL="457200" lvl="1" indent="0" eaLnBrk="0" fontAlgn="base" hangingPunct="0">
              <a:lnSpc>
                <a:spcPct val="100000"/>
              </a:lnSpc>
              <a:spcBef>
                <a:spcPct val="0"/>
              </a:spcBef>
              <a:spcAft>
                <a:spcPct val="0"/>
              </a:spcAft>
              <a:buFontTx/>
              <a:buChar char="•"/>
            </a:pPr>
            <a:r>
              <a:rPr lang="it-IT" altLang="it-IT" sz="1200" dirty="0" err="1">
                <a:latin typeface="Arial Unicode MS"/>
              </a:rPr>
              <a:t>renderOffertaPage</a:t>
            </a:r>
            <a:r>
              <a:rPr lang="it-IT" altLang="it-IT" sz="1200" dirty="0">
                <a:latin typeface="Arial Unicode MS"/>
              </a:rPr>
              <a:t>(</a:t>
            </a:r>
            <a:r>
              <a:rPr lang="it-IT" altLang="it-IT" sz="1200" dirty="0" err="1">
                <a:latin typeface="Arial Unicode MS"/>
              </a:rPr>
              <a:t>idAsta</a:t>
            </a:r>
            <a:r>
              <a:rPr lang="it-IT" altLang="it-IT" sz="1200" dirty="0">
                <a:latin typeface="Arial Unicode MS"/>
              </a:rPr>
              <a:t>)</a:t>
            </a:r>
            <a:r>
              <a:rPr lang="it-IT" altLang="it-IT" sz="1200" dirty="0"/>
              <a:t> → mostra pagina offerta per una certa asta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addArticoloInTable</a:t>
            </a:r>
            <a:r>
              <a:rPr lang="it-IT" altLang="it-IT" sz="1200" dirty="0">
                <a:latin typeface="Arial Unicode MS"/>
              </a:rPr>
              <a:t>(articolo)</a:t>
            </a:r>
            <a:r>
              <a:rPr lang="it-IT" altLang="it-IT" sz="1200" dirty="0"/>
              <a:t> → aggiunge un articolo alla tabella articoli asta</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addOffertaInTable</a:t>
            </a:r>
            <a:r>
              <a:rPr lang="it-IT" altLang="it-IT" sz="1200" dirty="0">
                <a:latin typeface="Arial Unicode MS"/>
              </a:rPr>
              <a:t>(offerta, nuova)</a:t>
            </a:r>
            <a:r>
              <a:rPr lang="it-IT" altLang="it-IT" sz="1200" dirty="0"/>
              <a:t> → aggiunge un’offerta alla tabella offerte</a:t>
            </a:r>
            <a:endParaRPr lang="it-IT" altLang="it-IT" sz="12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it-IT" altLang="it-IT" sz="1200" dirty="0" err="1">
                <a:latin typeface="Arial Unicode MS"/>
              </a:rPr>
              <a:t>faiOfferta</a:t>
            </a:r>
            <a:r>
              <a:rPr lang="it-IT" altLang="it-IT" sz="1200" dirty="0">
                <a:latin typeface="Arial Unicode MS"/>
              </a:rPr>
              <a:t>(</a:t>
            </a:r>
            <a:r>
              <a:rPr lang="it-IT" altLang="it-IT" sz="1200" dirty="0" err="1">
                <a:latin typeface="Arial Unicode MS"/>
              </a:rPr>
              <a:t>prezzoIniziale</a:t>
            </a:r>
            <a:r>
              <a:rPr lang="it-IT" altLang="it-IT" sz="1200" dirty="0">
                <a:latin typeface="Arial Unicode MS"/>
              </a:rPr>
              <a:t>, </a:t>
            </a:r>
            <a:r>
              <a:rPr lang="it-IT" altLang="it-IT" sz="1200" dirty="0" err="1">
                <a:latin typeface="Arial Unicode MS"/>
              </a:rPr>
              <a:t>prezzoOffertaMassima</a:t>
            </a:r>
            <a:r>
              <a:rPr lang="it-IT" altLang="it-IT" sz="1200" dirty="0">
                <a:latin typeface="Arial Unicode MS"/>
              </a:rPr>
              <a:t>, </a:t>
            </a:r>
            <a:r>
              <a:rPr lang="it-IT" altLang="it-IT" sz="1200" dirty="0" err="1">
                <a:latin typeface="Arial Unicode MS"/>
              </a:rPr>
              <a:t>rialzoMinimo</a:t>
            </a:r>
            <a:r>
              <a:rPr lang="it-IT" altLang="it-IT" sz="1200" dirty="0">
                <a:latin typeface="Arial Unicode MS"/>
              </a:rPr>
              <a:t>)</a:t>
            </a:r>
            <a:r>
              <a:rPr lang="it-IT" altLang="it-IT" sz="1200" dirty="0"/>
              <a:t> → invia una nuova offerta al server</a:t>
            </a:r>
            <a:endParaRPr lang="it-IT" altLang="it-IT" sz="1200" dirty="0">
              <a:latin typeface="Arial" panose="020B0604020202020204" pitchFamily="34" charset="0"/>
            </a:endParaRPr>
          </a:p>
          <a:p>
            <a:pPr lvl="1"/>
            <a:endParaRPr lang="it-IT" b="1" dirty="0"/>
          </a:p>
          <a:p>
            <a:pPr lvl="1"/>
            <a:endParaRPr lang="it-IT" b="1" dirty="0"/>
          </a:p>
          <a:p>
            <a:pPr lvl="1">
              <a:buFont typeface="Courier New" panose="02070309020205020404" pitchFamily="49" charset="0"/>
              <a:buChar char="o"/>
            </a:pPr>
            <a:endParaRPr lang="it-IT" b="1" dirty="0"/>
          </a:p>
          <a:p>
            <a:pPr lvl="1">
              <a:buFont typeface="Courier New" panose="02070309020205020404" pitchFamily="49" charset="0"/>
              <a:buChar char="o"/>
            </a:pPr>
            <a:endParaRPr lang="it-IT" sz="1400" dirty="0"/>
          </a:p>
        </p:txBody>
      </p:sp>
    </p:spTree>
    <p:extLst>
      <p:ext uri="{BB962C8B-B14F-4D97-AF65-F5344CB8AC3E}">
        <p14:creationId xmlns:p14="http://schemas.microsoft.com/office/powerpoint/2010/main" val="3165191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B626C4-C1A0-5F50-9B84-7CB56748E319}"/>
              </a:ext>
            </a:extLst>
          </p:cNvPr>
          <p:cNvSpPr>
            <a:spLocks noGrp="1"/>
          </p:cNvSpPr>
          <p:nvPr>
            <p:ph type="title"/>
          </p:nvPr>
        </p:nvSpPr>
        <p:spPr/>
        <p:txBody>
          <a:bodyPr/>
          <a:lstStyle/>
          <a:p>
            <a:pPr algn="ctr"/>
            <a:r>
              <a:rPr lang="it-IT" dirty="0"/>
              <a:t>SEQUENCE DIAGRAM – HTML - SIGNUP</a:t>
            </a:r>
          </a:p>
        </p:txBody>
      </p:sp>
      <p:pic>
        <p:nvPicPr>
          <p:cNvPr id="5" name="Segnaposto contenuto 4" descr="Immagine che contiene testo, schermata, linea, diagramma&#10;&#10;Il contenuto generato dall'IA potrebbe non essere corretto.">
            <a:extLst>
              <a:ext uri="{FF2B5EF4-FFF2-40B4-BE49-F238E27FC236}">
                <a16:creationId xmlns:a16="http://schemas.microsoft.com/office/drawing/2014/main" id="{443E0549-4721-3783-1E48-8E40E3D800F0}"/>
              </a:ext>
            </a:extLst>
          </p:cNvPr>
          <p:cNvPicPr>
            <a:picLocks noGrp="1" noChangeAspect="1"/>
          </p:cNvPicPr>
          <p:nvPr>
            <p:ph idx="1"/>
          </p:nvPr>
        </p:nvPicPr>
        <p:blipFill>
          <a:blip r:embed="rId2"/>
          <a:stretch>
            <a:fillRect/>
          </a:stretch>
        </p:blipFill>
        <p:spPr>
          <a:xfrm>
            <a:off x="700635" y="1679281"/>
            <a:ext cx="10790729" cy="4900465"/>
          </a:xfrm>
        </p:spPr>
      </p:pic>
    </p:spTree>
    <p:extLst>
      <p:ext uri="{BB962C8B-B14F-4D97-AF65-F5344CB8AC3E}">
        <p14:creationId xmlns:p14="http://schemas.microsoft.com/office/powerpoint/2010/main" val="1019899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B4FD73-7AFE-A7DA-F9FE-65BEB12EBA73}"/>
              </a:ext>
            </a:extLst>
          </p:cNvPr>
          <p:cNvSpPr>
            <a:spLocks noGrp="1"/>
          </p:cNvSpPr>
          <p:nvPr>
            <p:ph type="title"/>
          </p:nvPr>
        </p:nvSpPr>
        <p:spPr/>
        <p:txBody>
          <a:bodyPr/>
          <a:lstStyle/>
          <a:p>
            <a:pPr algn="ctr"/>
            <a:r>
              <a:rPr lang="it-IT" dirty="0"/>
              <a:t>SEQUENCE DIAGRAM - LOGIN</a:t>
            </a:r>
          </a:p>
        </p:txBody>
      </p:sp>
      <p:pic>
        <p:nvPicPr>
          <p:cNvPr id="5" name="Segnaposto contenuto 4" descr="Immagine che contiene testo, schermata, diagramma, linea&#10;&#10;Il contenuto generato dall'IA potrebbe non essere corretto.">
            <a:extLst>
              <a:ext uri="{FF2B5EF4-FFF2-40B4-BE49-F238E27FC236}">
                <a16:creationId xmlns:a16="http://schemas.microsoft.com/office/drawing/2014/main" id="{D343FD7A-BB61-8D5D-44E4-DB07223DF3EF}"/>
              </a:ext>
            </a:extLst>
          </p:cNvPr>
          <p:cNvPicPr>
            <a:picLocks noGrp="1" noChangeAspect="1"/>
          </p:cNvPicPr>
          <p:nvPr>
            <p:ph idx="1"/>
          </p:nvPr>
        </p:nvPicPr>
        <p:blipFill>
          <a:blip r:embed="rId2"/>
          <a:stretch>
            <a:fillRect/>
          </a:stretch>
        </p:blipFill>
        <p:spPr>
          <a:xfrm>
            <a:off x="700635" y="1594168"/>
            <a:ext cx="10691265" cy="4996558"/>
          </a:xfrm>
        </p:spPr>
      </p:pic>
    </p:spTree>
    <p:extLst>
      <p:ext uri="{BB962C8B-B14F-4D97-AF65-F5344CB8AC3E}">
        <p14:creationId xmlns:p14="http://schemas.microsoft.com/office/powerpoint/2010/main" val="2099754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42C25-8C7D-79B4-CBE7-1489A3B65BF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321C98D-26AF-B111-E668-EA470A72AC88}"/>
              </a:ext>
            </a:extLst>
          </p:cNvPr>
          <p:cNvSpPr>
            <a:spLocks noGrp="1"/>
          </p:cNvSpPr>
          <p:nvPr>
            <p:ph type="title"/>
          </p:nvPr>
        </p:nvSpPr>
        <p:spPr/>
        <p:txBody>
          <a:bodyPr/>
          <a:lstStyle/>
          <a:p>
            <a:pPr algn="ctr"/>
            <a:r>
              <a:rPr lang="it-IT" dirty="0"/>
              <a:t>SEQUENCE DIAGRAM - LOGOUT</a:t>
            </a:r>
          </a:p>
        </p:txBody>
      </p:sp>
      <p:pic>
        <p:nvPicPr>
          <p:cNvPr id="5" name="Segnaposto contenuto 4" descr="Immagine che contiene testo, schermata, Carattere, linea&#10;&#10;Il contenuto generato dall'IA potrebbe non essere corretto.">
            <a:extLst>
              <a:ext uri="{FF2B5EF4-FFF2-40B4-BE49-F238E27FC236}">
                <a16:creationId xmlns:a16="http://schemas.microsoft.com/office/drawing/2014/main" id="{BE47FCCD-D551-D8A4-7592-3F872B663D16}"/>
              </a:ext>
            </a:extLst>
          </p:cNvPr>
          <p:cNvPicPr>
            <a:picLocks noGrp="1" noChangeAspect="1"/>
          </p:cNvPicPr>
          <p:nvPr>
            <p:ph idx="1"/>
          </p:nvPr>
        </p:nvPicPr>
        <p:blipFill>
          <a:blip r:embed="rId2"/>
          <a:stretch>
            <a:fillRect/>
          </a:stretch>
        </p:blipFill>
        <p:spPr>
          <a:xfrm>
            <a:off x="2930236" y="2146562"/>
            <a:ext cx="6681355" cy="3646514"/>
          </a:xfrm>
        </p:spPr>
      </p:pic>
    </p:spTree>
    <p:extLst>
      <p:ext uri="{BB962C8B-B14F-4D97-AF65-F5344CB8AC3E}">
        <p14:creationId xmlns:p14="http://schemas.microsoft.com/office/powerpoint/2010/main" val="1617431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1F793-A5E2-70FC-B045-C7A049EBBF9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74A99D3-AFFE-EE00-5AB6-1473583865A4}"/>
              </a:ext>
            </a:extLst>
          </p:cNvPr>
          <p:cNvSpPr>
            <a:spLocks noGrp="1"/>
          </p:cNvSpPr>
          <p:nvPr>
            <p:ph type="title"/>
          </p:nvPr>
        </p:nvSpPr>
        <p:spPr/>
        <p:txBody>
          <a:bodyPr/>
          <a:lstStyle/>
          <a:p>
            <a:pPr algn="ctr"/>
            <a:r>
              <a:rPr lang="it-IT" dirty="0"/>
              <a:t>SEQUENCE DIAGRAM – GO TO HOME</a:t>
            </a:r>
          </a:p>
        </p:txBody>
      </p:sp>
      <p:pic>
        <p:nvPicPr>
          <p:cNvPr id="5" name="Segnaposto contenuto 4" descr="Immagine che contiene testo, schermata, Carattere, linea&#10;&#10;Il contenuto generato dall'IA potrebbe non essere corretto.">
            <a:extLst>
              <a:ext uri="{FF2B5EF4-FFF2-40B4-BE49-F238E27FC236}">
                <a16:creationId xmlns:a16="http://schemas.microsoft.com/office/drawing/2014/main" id="{351336D4-80FD-BC4F-B0E3-4BDA202B7F5B}"/>
              </a:ext>
            </a:extLst>
          </p:cNvPr>
          <p:cNvPicPr>
            <a:picLocks noGrp="1" noChangeAspect="1"/>
          </p:cNvPicPr>
          <p:nvPr>
            <p:ph idx="1"/>
          </p:nvPr>
        </p:nvPicPr>
        <p:blipFill>
          <a:blip r:embed="rId2"/>
          <a:stretch>
            <a:fillRect/>
          </a:stretch>
        </p:blipFill>
        <p:spPr>
          <a:xfrm>
            <a:off x="668939" y="1901536"/>
            <a:ext cx="10721724" cy="4395355"/>
          </a:xfrm>
        </p:spPr>
      </p:pic>
    </p:spTree>
    <p:extLst>
      <p:ext uri="{BB962C8B-B14F-4D97-AF65-F5344CB8AC3E}">
        <p14:creationId xmlns:p14="http://schemas.microsoft.com/office/powerpoint/2010/main" val="3283723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90982-14E0-7EDC-E3B0-E59F1B38782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161FF21-4F98-4B66-D43F-39315B5F717B}"/>
              </a:ext>
            </a:extLst>
          </p:cNvPr>
          <p:cNvSpPr>
            <a:spLocks noGrp="1"/>
          </p:cNvSpPr>
          <p:nvPr>
            <p:ph type="title"/>
          </p:nvPr>
        </p:nvSpPr>
        <p:spPr/>
        <p:txBody>
          <a:bodyPr/>
          <a:lstStyle/>
          <a:p>
            <a:pPr algn="ctr"/>
            <a:r>
              <a:rPr lang="it-IT" dirty="0"/>
              <a:t>SEQUENCE DIAGRAM – GO TO OFFERTA</a:t>
            </a:r>
          </a:p>
        </p:txBody>
      </p:sp>
      <p:pic>
        <p:nvPicPr>
          <p:cNvPr id="5" name="Segnaposto contenuto 4" descr="Immagine che contiene testo, schermata, Carattere, ricevuta&#10;&#10;Il contenuto generato dall'IA potrebbe non essere corretto.">
            <a:extLst>
              <a:ext uri="{FF2B5EF4-FFF2-40B4-BE49-F238E27FC236}">
                <a16:creationId xmlns:a16="http://schemas.microsoft.com/office/drawing/2014/main" id="{52E16ADF-A56C-0214-C8C6-C5B0400AC617}"/>
              </a:ext>
            </a:extLst>
          </p:cNvPr>
          <p:cNvPicPr>
            <a:picLocks noGrp="1" noChangeAspect="1"/>
          </p:cNvPicPr>
          <p:nvPr>
            <p:ph idx="1"/>
          </p:nvPr>
        </p:nvPicPr>
        <p:blipFill>
          <a:blip r:embed="rId2"/>
          <a:stretch>
            <a:fillRect/>
          </a:stretch>
        </p:blipFill>
        <p:spPr>
          <a:xfrm>
            <a:off x="1870364" y="1527409"/>
            <a:ext cx="8333509" cy="5141281"/>
          </a:xfrm>
        </p:spPr>
      </p:pic>
    </p:spTree>
    <p:extLst>
      <p:ext uri="{BB962C8B-B14F-4D97-AF65-F5344CB8AC3E}">
        <p14:creationId xmlns:p14="http://schemas.microsoft.com/office/powerpoint/2010/main" val="2000968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2210-C84F-FCB0-B265-D12893B7B0D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3A8F0E9-385C-1C5E-B0DB-5C7F03FB1219}"/>
              </a:ext>
            </a:extLst>
          </p:cNvPr>
          <p:cNvSpPr>
            <a:spLocks noGrp="1"/>
          </p:cNvSpPr>
          <p:nvPr>
            <p:ph type="title"/>
          </p:nvPr>
        </p:nvSpPr>
        <p:spPr/>
        <p:txBody>
          <a:bodyPr/>
          <a:lstStyle/>
          <a:p>
            <a:pPr algn="ctr"/>
            <a:r>
              <a:rPr lang="it-IT" dirty="0"/>
              <a:t>SEQUENCE DIAGRAM – GO TO VENDO</a:t>
            </a:r>
          </a:p>
        </p:txBody>
      </p:sp>
      <p:pic>
        <p:nvPicPr>
          <p:cNvPr id="5" name="Segnaposto contenuto 4" descr="Immagine che contiene testo, ricevuta, schermata, numero&#10;&#10;Il contenuto generato dall'IA potrebbe non essere corretto.">
            <a:extLst>
              <a:ext uri="{FF2B5EF4-FFF2-40B4-BE49-F238E27FC236}">
                <a16:creationId xmlns:a16="http://schemas.microsoft.com/office/drawing/2014/main" id="{915CC658-91A3-37D2-9296-AA23773D767E}"/>
              </a:ext>
            </a:extLst>
          </p:cNvPr>
          <p:cNvPicPr>
            <a:picLocks noGrp="1" noChangeAspect="1"/>
          </p:cNvPicPr>
          <p:nvPr>
            <p:ph idx="1"/>
          </p:nvPr>
        </p:nvPicPr>
        <p:blipFill>
          <a:blip r:embed="rId2"/>
          <a:stretch>
            <a:fillRect/>
          </a:stretch>
        </p:blipFill>
        <p:spPr>
          <a:xfrm>
            <a:off x="2369126" y="1563690"/>
            <a:ext cx="7533409" cy="5084614"/>
          </a:xfrm>
        </p:spPr>
      </p:pic>
    </p:spTree>
    <p:extLst>
      <p:ext uri="{BB962C8B-B14F-4D97-AF65-F5344CB8AC3E}">
        <p14:creationId xmlns:p14="http://schemas.microsoft.com/office/powerpoint/2010/main" val="2796739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AA0AA-E97E-39A8-8EC5-0BF71DC2DFC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6C2AFD9-F249-34EA-0DFD-B9149B1429FE}"/>
              </a:ext>
            </a:extLst>
          </p:cNvPr>
          <p:cNvSpPr>
            <a:spLocks noGrp="1"/>
          </p:cNvSpPr>
          <p:nvPr>
            <p:ph type="title"/>
          </p:nvPr>
        </p:nvSpPr>
        <p:spPr/>
        <p:txBody>
          <a:bodyPr/>
          <a:lstStyle/>
          <a:p>
            <a:pPr algn="ctr"/>
            <a:r>
              <a:rPr lang="it-IT" dirty="0"/>
              <a:t>SEQUENCE DIAGRAM – GO TO ACQUISTO</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1C3E70CE-AB16-84E7-3B89-C93CE931019E}"/>
              </a:ext>
            </a:extLst>
          </p:cNvPr>
          <p:cNvPicPr>
            <a:picLocks noGrp="1" noChangeAspect="1"/>
          </p:cNvPicPr>
          <p:nvPr>
            <p:ph idx="1"/>
          </p:nvPr>
        </p:nvPicPr>
        <p:blipFill>
          <a:blip r:embed="rId2"/>
          <a:stretch>
            <a:fillRect/>
          </a:stretch>
        </p:blipFill>
        <p:spPr>
          <a:xfrm>
            <a:off x="1548246" y="1628957"/>
            <a:ext cx="9310254" cy="4766103"/>
          </a:xfrm>
        </p:spPr>
      </p:pic>
    </p:spTree>
    <p:extLst>
      <p:ext uri="{BB962C8B-B14F-4D97-AF65-F5344CB8AC3E}">
        <p14:creationId xmlns:p14="http://schemas.microsoft.com/office/powerpoint/2010/main" val="3112876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33138-BE70-8D72-7224-846E8B518A4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833DF20-AA24-DDD3-3FFA-33C4AD79947D}"/>
              </a:ext>
            </a:extLst>
          </p:cNvPr>
          <p:cNvSpPr>
            <a:spLocks noGrp="1"/>
          </p:cNvSpPr>
          <p:nvPr>
            <p:ph type="title"/>
          </p:nvPr>
        </p:nvSpPr>
        <p:spPr/>
        <p:txBody>
          <a:bodyPr/>
          <a:lstStyle/>
          <a:p>
            <a:pPr algn="ctr"/>
            <a:r>
              <a:rPr lang="it-IT" dirty="0"/>
              <a:t>SEQUENCE DIAGRAM – GO TO DETTAGLIO ASTA</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EBCB93FA-E45A-C10C-DD16-554093D140FE}"/>
              </a:ext>
            </a:extLst>
          </p:cNvPr>
          <p:cNvPicPr>
            <a:picLocks noGrp="1" noChangeAspect="1"/>
          </p:cNvPicPr>
          <p:nvPr>
            <p:ph idx="1"/>
          </p:nvPr>
        </p:nvPicPr>
        <p:blipFill>
          <a:blip r:embed="rId2"/>
          <a:stretch>
            <a:fillRect/>
          </a:stretch>
        </p:blipFill>
        <p:spPr>
          <a:xfrm>
            <a:off x="2722419" y="1641968"/>
            <a:ext cx="6909954" cy="4721638"/>
          </a:xfrm>
        </p:spPr>
      </p:pic>
    </p:spTree>
    <p:extLst>
      <p:ext uri="{BB962C8B-B14F-4D97-AF65-F5344CB8AC3E}">
        <p14:creationId xmlns:p14="http://schemas.microsoft.com/office/powerpoint/2010/main" val="23711813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38343-DEA0-2086-1C54-63C48A8E27D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08D50D1-BF1F-1913-29B2-9A7F9C8FD4FD}"/>
              </a:ext>
            </a:extLst>
          </p:cNvPr>
          <p:cNvSpPr>
            <a:spLocks noGrp="1"/>
          </p:cNvSpPr>
          <p:nvPr>
            <p:ph type="title"/>
          </p:nvPr>
        </p:nvSpPr>
        <p:spPr/>
        <p:txBody>
          <a:bodyPr/>
          <a:lstStyle/>
          <a:p>
            <a:pPr algn="ctr"/>
            <a:r>
              <a:rPr lang="it-IT" dirty="0"/>
              <a:t>SEQUENCE DIAGRAM – SEARCH ASTE BY KEY </a:t>
            </a:r>
          </a:p>
        </p:txBody>
      </p:sp>
      <p:pic>
        <p:nvPicPr>
          <p:cNvPr id="5" name="Segnaposto contenuto 4" descr="Immagine che contiene testo, schermata, Carattere, linea&#10;&#10;Il contenuto generato dall'IA potrebbe non essere corretto.">
            <a:extLst>
              <a:ext uri="{FF2B5EF4-FFF2-40B4-BE49-F238E27FC236}">
                <a16:creationId xmlns:a16="http://schemas.microsoft.com/office/drawing/2014/main" id="{39BF1B3C-8B65-4BD8-1C2F-CDA1BC851D9A}"/>
              </a:ext>
            </a:extLst>
          </p:cNvPr>
          <p:cNvPicPr>
            <a:picLocks noGrp="1" noChangeAspect="1"/>
          </p:cNvPicPr>
          <p:nvPr>
            <p:ph idx="1"/>
          </p:nvPr>
        </p:nvPicPr>
        <p:blipFill>
          <a:blip r:embed="rId2"/>
          <a:stretch>
            <a:fillRect/>
          </a:stretch>
        </p:blipFill>
        <p:spPr>
          <a:xfrm>
            <a:off x="2272636" y="1724891"/>
            <a:ext cx="7924204" cy="4520045"/>
          </a:xfrm>
        </p:spPr>
      </p:pic>
    </p:spTree>
    <p:extLst>
      <p:ext uri="{BB962C8B-B14F-4D97-AF65-F5344CB8AC3E}">
        <p14:creationId xmlns:p14="http://schemas.microsoft.com/office/powerpoint/2010/main" val="1866007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C8C2-4EA9-B8C7-1A88-A526A93B9E7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D6AC322-0E0B-6A6E-04D0-8AEC47B203AB}"/>
              </a:ext>
            </a:extLst>
          </p:cNvPr>
          <p:cNvSpPr>
            <a:spLocks noGrp="1"/>
          </p:cNvSpPr>
          <p:nvPr>
            <p:ph type="title"/>
          </p:nvPr>
        </p:nvSpPr>
        <p:spPr/>
        <p:txBody>
          <a:bodyPr/>
          <a:lstStyle/>
          <a:p>
            <a:pPr algn="ctr"/>
            <a:r>
              <a:rPr lang="it-IT" dirty="0"/>
              <a:t>SEQUENCE DIAGRAM – FAI OFFERTA</a:t>
            </a:r>
          </a:p>
        </p:txBody>
      </p:sp>
      <p:pic>
        <p:nvPicPr>
          <p:cNvPr id="5" name="Segnaposto contenuto 4" descr="Immagine che contiene testo, schermata, linea, Carattere&#10;&#10;Il contenuto generato dall'IA potrebbe non essere corretto.">
            <a:extLst>
              <a:ext uri="{FF2B5EF4-FFF2-40B4-BE49-F238E27FC236}">
                <a16:creationId xmlns:a16="http://schemas.microsoft.com/office/drawing/2014/main" id="{8F0A9A2C-7FDE-9C44-66DA-9924D0DC10D0}"/>
              </a:ext>
            </a:extLst>
          </p:cNvPr>
          <p:cNvPicPr>
            <a:picLocks noGrp="1" noChangeAspect="1"/>
          </p:cNvPicPr>
          <p:nvPr>
            <p:ph idx="1"/>
          </p:nvPr>
        </p:nvPicPr>
        <p:blipFill>
          <a:blip r:embed="rId2"/>
          <a:stretch>
            <a:fillRect/>
          </a:stretch>
        </p:blipFill>
        <p:spPr>
          <a:xfrm>
            <a:off x="2493818" y="1577483"/>
            <a:ext cx="7232073" cy="4942889"/>
          </a:xfrm>
        </p:spPr>
      </p:pic>
    </p:spTree>
    <p:extLst>
      <p:ext uri="{BB962C8B-B14F-4D97-AF65-F5344CB8AC3E}">
        <p14:creationId xmlns:p14="http://schemas.microsoft.com/office/powerpoint/2010/main" val="83448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188A3-A14D-95AB-C2D1-2831127D18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9CA4EB5-8E57-4A25-867E-E9341ABFB2FA}"/>
              </a:ext>
            </a:extLst>
          </p:cNvPr>
          <p:cNvSpPr>
            <a:spLocks noGrp="1"/>
          </p:cNvSpPr>
          <p:nvPr>
            <p:ph type="title"/>
          </p:nvPr>
        </p:nvSpPr>
        <p:spPr/>
        <p:txBody>
          <a:bodyPr/>
          <a:lstStyle/>
          <a:p>
            <a:pPr algn="ctr"/>
            <a:r>
              <a:rPr lang="it-IT" dirty="0"/>
              <a:t>SEQUENCE DIAGRAM – CREA ASTA</a:t>
            </a:r>
          </a:p>
        </p:txBody>
      </p:sp>
      <p:pic>
        <p:nvPicPr>
          <p:cNvPr id="5" name="Segnaposto contenuto 4" descr="Immagine che contiene testo, ricevuta, numero, schermata&#10;&#10;Il contenuto generato dall'IA potrebbe non essere corretto.">
            <a:extLst>
              <a:ext uri="{FF2B5EF4-FFF2-40B4-BE49-F238E27FC236}">
                <a16:creationId xmlns:a16="http://schemas.microsoft.com/office/drawing/2014/main" id="{870186E4-665D-942A-2A39-DA895250F04B}"/>
              </a:ext>
            </a:extLst>
          </p:cNvPr>
          <p:cNvPicPr>
            <a:picLocks noGrp="1" noChangeAspect="1"/>
          </p:cNvPicPr>
          <p:nvPr>
            <p:ph idx="1"/>
          </p:nvPr>
        </p:nvPicPr>
        <p:blipFill>
          <a:blip r:embed="rId2"/>
          <a:stretch>
            <a:fillRect/>
          </a:stretch>
        </p:blipFill>
        <p:spPr>
          <a:xfrm>
            <a:off x="2660073" y="1565957"/>
            <a:ext cx="7003471" cy="4891458"/>
          </a:xfrm>
        </p:spPr>
      </p:pic>
    </p:spTree>
    <p:extLst>
      <p:ext uri="{BB962C8B-B14F-4D97-AF65-F5344CB8AC3E}">
        <p14:creationId xmlns:p14="http://schemas.microsoft.com/office/powerpoint/2010/main" val="378536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4707B-F5C1-1BBA-43DE-BC2D643DEF7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5B0ED28-1D68-2A79-F499-E7FC63635630}"/>
              </a:ext>
            </a:extLst>
          </p:cNvPr>
          <p:cNvSpPr>
            <a:spLocks noGrp="1"/>
          </p:cNvSpPr>
          <p:nvPr>
            <p:ph type="title"/>
          </p:nvPr>
        </p:nvSpPr>
        <p:spPr/>
        <p:txBody>
          <a:bodyPr/>
          <a:lstStyle/>
          <a:p>
            <a:pPr algn="ctr"/>
            <a:r>
              <a:rPr lang="it-IT" dirty="0"/>
              <a:t>SEQUENCE DIAGRAM – CHIUDI ASTA</a:t>
            </a:r>
          </a:p>
        </p:txBody>
      </p:sp>
      <p:pic>
        <p:nvPicPr>
          <p:cNvPr id="5" name="Segnaposto contenuto 4" descr="Immagine che contiene testo, schermata, Carattere, numero&#10;&#10;Il contenuto generato dall'IA potrebbe non essere corretto.">
            <a:extLst>
              <a:ext uri="{FF2B5EF4-FFF2-40B4-BE49-F238E27FC236}">
                <a16:creationId xmlns:a16="http://schemas.microsoft.com/office/drawing/2014/main" id="{C4D23C40-C00A-BCB2-36EC-CDD6988AE44F}"/>
              </a:ext>
            </a:extLst>
          </p:cNvPr>
          <p:cNvPicPr>
            <a:picLocks noGrp="1" noChangeAspect="1"/>
          </p:cNvPicPr>
          <p:nvPr>
            <p:ph idx="1"/>
          </p:nvPr>
        </p:nvPicPr>
        <p:blipFill>
          <a:blip r:embed="rId2"/>
          <a:stretch>
            <a:fillRect/>
          </a:stretch>
        </p:blipFill>
        <p:spPr>
          <a:xfrm>
            <a:off x="2548344" y="1535101"/>
            <a:ext cx="7271065" cy="4928044"/>
          </a:xfrm>
        </p:spPr>
      </p:pic>
    </p:spTree>
    <p:extLst>
      <p:ext uri="{BB962C8B-B14F-4D97-AF65-F5344CB8AC3E}">
        <p14:creationId xmlns:p14="http://schemas.microsoft.com/office/powerpoint/2010/main" val="226067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3C918-7594-30C2-4CB0-5C4CE88A0E3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F874F21-99E4-2CD9-799E-C6509178008C}"/>
              </a:ext>
            </a:extLst>
          </p:cNvPr>
          <p:cNvSpPr>
            <a:spLocks noGrp="1"/>
          </p:cNvSpPr>
          <p:nvPr>
            <p:ph type="title"/>
          </p:nvPr>
        </p:nvSpPr>
        <p:spPr/>
        <p:txBody>
          <a:bodyPr/>
          <a:lstStyle/>
          <a:p>
            <a:pPr algn="ctr"/>
            <a:r>
              <a:rPr lang="it-IT" dirty="0"/>
              <a:t>SEQUENCE DIAGRAM – AGGIUNGI ARTICOLO</a:t>
            </a:r>
          </a:p>
        </p:txBody>
      </p:sp>
      <p:pic>
        <p:nvPicPr>
          <p:cNvPr id="5" name="Segnaposto contenuto 4" descr="Immagine che contiene testo, schermata, Carattere, linea&#10;&#10;Il contenuto generato dall'IA potrebbe non essere corretto.">
            <a:extLst>
              <a:ext uri="{FF2B5EF4-FFF2-40B4-BE49-F238E27FC236}">
                <a16:creationId xmlns:a16="http://schemas.microsoft.com/office/drawing/2014/main" id="{B5862C63-546E-D1F9-48BF-262CDA953E85}"/>
              </a:ext>
            </a:extLst>
          </p:cNvPr>
          <p:cNvPicPr>
            <a:picLocks noGrp="1" noChangeAspect="1"/>
          </p:cNvPicPr>
          <p:nvPr>
            <p:ph idx="1"/>
          </p:nvPr>
        </p:nvPicPr>
        <p:blipFill>
          <a:blip r:embed="rId2"/>
          <a:stretch>
            <a:fillRect/>
          </a:stretch>
        </p:blipFill>
        <p:spPr>
          <a:xfrm>
            <a:off x="800100" y="1776846"/>
            <a:ext cx="10606379" cy="4581956"/>
          </a:xfrm>
        </p:spPr>
      </p:pic>
    </p:spTree>
    <p:extLst>
      <p:ext uri="{BB962C8B-B14F-4D97-AF65-F5344CB8AC3E}">
        <p14:creationId xmlns:p14="http://schemas.microsoft.com/office/powerpoint/2010/main" val="2333171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A708F-17E3-13BB-FFC7-4E98B1FD767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42EB8AF-6D01-C19F-D1ED-19B5F2EB60DB}"/>
              </a:ext>
            </a:extLst>
          </p:cNvPr>
          <p:cNvSpPr>
            <a:spLocks noGrp="1"/>
          </p:cNvSpPr>
          <p:nvPr>
            <p:ph type="title"/>
          </p:nvPr>
        </p:nvSpPr>
        <p:spPr/>
        <p:txBody>
          <a:bodyPr>
            <a:normAutofit fontScale="90000"/>
          </a:bodyPr>
          <a:lstStyle/>
          <a:p>
            <a:pPr algn="ctr"/>
            <a:r>
              <a:rPr lang="it-IT" dirty="0"/>
              <a:t>SEQUENCE DIAGRAM – RIA – CARICAMENTO HOME</a:t>
            </a:r>
          </a:p>
        </p:txBody>
      </p:sp>
      <p:pic>
        <p:nvPicPr>
          <p:cNvPr id="5" name="Segnaposto contenuto 4" descr="Immagine che contiene testo, schermata, Carattere, linea&#10;&#10;Il contenuto generato dall'IA potrebbe non essere corretto.">
            <a:extLst>
              <a:ext uri="{FF2B5EF4-FFF2-40B4-BE49-F238E27FC236}">
                <a16:creationId xmlns:a16="http://schemas.microsoft.com/office/drawing/2014/main" id="{923BC546-CE1A-804A-96D6-4A94D96F62C0}"/>
              </a:ext>
            </a:extLst>
          </p:cNvPr>
          <p:cNvPicPr>
            <a:picLocks noGrp="1" noChangeAspect="1"/>
          </p:cNvPicPr>
          <p:nvPr>
            <p:ph idx="1"/>
          </p:nvPr>
        </p:nvPicPr>
        <p:blipFill>
          <a:blip r:embed="rId2"/>
          <a:stretch>
            <a:fillRect/>
          </a:stretch>
        </p:blipFill>
        <p:spPr>
          <a:xfrm>
            <a:off x="684644" y="2639291"/>
            <a:ext cx="10712074" cy="2909453"/>
          </a:xfrm>
        </p:spPr>
      </p:pic>
    </p:spTree>
    <p:extLst>
      <p:ext uri="{BB962C8B-B14F-4D97-AF65-F5344CB8AC3E}">
        <p14:creationId xmlns:p14="http://schemas.microsoft.com/office/powerpoint/2010/main" val="1872397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27CDA-71F6-7034-176F-3B934C3FF8E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66FA82-DE60-7646-0359-E385CE60B4BE}"/>
              </a:ext>
            </a:extLst>
          </p:cNvPr>
          <p:cNvSpPr>
            <a:spLocks noGrp="1"/>
          </p:cNvSpPr>
          <p:nvPr>
            <p:ph type="title"/>
          </p:nvPr>
        </p:nvSpPr>
        <p:spPr/>
        <p:txBody>
          <a:bodyPr>
            <a:normAutofit fontScale="90000"/>
          </a:bodyPr>
          <a:lstStyle/>
          <a:p>
            <a:pPr algn="ctr"/>
            <a:r>
              <a:rPr lang="it-IT" dirty="0"/>
              <a:t>SEQUENCE DIAGRAM – CARICAMENTO ACQUISTO</a:t>
            </a:r>
          </a:p>
        </p:txBody>
      </p:sp>
      <p:pic>
        <p:nvPicPr>
          <p:cNvPr id="5" name="Segnaposto contenuto 4" descr="Immagine che contiene testo, diagramma, Parallelo, linea&#10;&#10;Il contenuto generato dall'IA potrebbe non essere corretto.">
            <a:extLst>
              <a:ext uri="{FF2B5EF4-FFF2-40B4-BE49-F238E27FC236}">
                <a16:creationId xmlns:a16="http://schemas.microsoft.com/office/drawing/2014/main" id="{EC996D10-F426-5334-EEEE-6B381700E448}"/>
              </a:ext>
            </a:extLst>
          </p:cNvPr>
          <p:cNvPicPr>
            <a:picLocks noGrp="1" noChangeAspect="1"/>
          </p:cNvPicPr>
          <p:nvPr>
            <p:ph idx="1"/>
          </p:nvPr>
        </p:nvPicPr>
        <p:blipFill>
          <a:blip r:embed="rId2"/>
          <a:stretch>
            <a:fillRect/>
          </a:stretch>
        </p:blipFill>
        <p:spPr>
          <a:xfrm>
            <a:off x="2815936" y="1553015"/>
            <a:ext cx="6858000" cy="4800600"/>
          </a:xfrm>
        </p:spPr>
      </p:pic>
    </p:spTree>
    <p:extLst>
      <p:ext uri="{BB962C8B-B14F-4D97-AF65-F5344CB8AC3E}">
        <p14:creationId xmlns:p14="http://schemas.microsoft.com/office/powerpoint/2010/main" val="4164563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A445D-A68C-E6A4-C755-2DA51100166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A22202D-1A9C-A99F-2844-7251BC30ABA2}"/>
              </a:ext>
            </a:extLst>
          </p:cNvPr>
          <p:cNvSpPr>
            <a:spLocks noGrp="1"/>
          </p:cNvSpPr>
          <p:nvPr>
            <p:ph type="title"/>
          </p:nvPr>
        </p:nvSpPr>
        <p:spPr/>
        <p:txBody>
          <a:bodyPr/>
          <a:lstStyle/>
          <a:p>
            <a:pPr algn="ctr"/>
            <a:r>
              <a:rPr lang="it-IT" dirty="0"/>
              <a:t>SEQUENCE DIAGRAM – CARICAMENTO VENDO</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6E72BBF1-1153-67E7-222E-A40E50E10079}"/>
              </a:ext>
            </a:extLst>
          </p:cNvPr>
          <p:cNvPicPr>
            <a:picLocks noGrp="1" noChangeAspect="1"/>
          </p:cNvPicPr>
          <p:nvPr>
            <p:ph idx="1"/>
          </p:nvPr>
        </p:nvPicPr>
        <p:blipFill>
          <a:blip r:embed="rId2"/>
          <a:stretch>
            <a:fillRect/>
          </a:stretch>
        </p:blipFill>
        <p:spPr>
          <a:xfrm>
            <a:off x="2336312" y="1596375"/>
            <a:ext cx="7451924" cy="4970679"/>
          </a:xfrm>
        </p:spPr>
      </p:pic>
    </p:spTree>
    <p:extLst>
      <p:ext uri="{BB962C8B-B14F-4D97-AF65-F5344CB8AC3E}">
        <p14:creationId xmlns:p14="http://schemas.microsoft.com/office/powerpoint/2010/main" val="2424893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DE2E-321B-F75B-09CA-B5FDEBADC03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50A6346-DD04-F6D5-68B8-8580EF73BE89}"/>
              </a:ext>
            </a:extLst>
          </p:cNvPr>
          <p:cNvSpPr>
            <a:spLocks noGrp="1"/>
          </p:cNvSpPr>
          <p:nvPr>
            <p:ph type="title"/>
          </p:nvPr>
        </p:nvSpPr>
        <p:spPr/>
        <p:txBody>
          <a:bodyPr/>
          <a:lstStyle/>
          <a:p>
            <a:pPr algn="ctr"/>
            <a:r>
              <a:rPr lang="it-IT" dirty="0"/>
              <a:t>SEQUENCE DIAGRAM – CARICAMENTO OFFERTA</a:t>
            </a:r>
          </a:p>
        </p:txBody>
      </p:sp>
      <p:pic>
        <p:nvPicPr>
          <p:cNvPr id="5" name="Segnaposto contenuto 4" descr="Immagine che contiene testo, diagramma, numero, Parallelo&#10;&#10;Il contenuto generato dall'IA potrebbe non essere corretto.">
            <a:extLst>
              <a:ext uri="{FF2B5EF4-FFF2-40B4-BE49-F238E27FC236}">
                <a16:creationId xmlns:a16="http://schemas.microsoft.com/office/drawing/2014/main" id="{57B2568F-9C84-9892-A123-C397BB683759}"/>
              </a:ext>
            </a:extLst>
          </p:cNvPr>
          <p:cNvPicPr>
            <a:picLocks noGrp="1" noChangeAspect="1"/>
          </p:cNvPicPr>
          <p:nvPr>
            <p:ph idx="1"/>
          </p:nvPr>
        </p:nvPicPr>
        <p:blipFill>
          <a:blip r:embed="rId2"/>
          <a:stretch>
            <a:fillRect/>
          </a:stretch>
        </p:blipFill>
        <p:spPr>
          <a:xfrm>
            <a:off x="1908150" y="1636996"/>
            <a:ext cx="8461977" cy="4805368"/>
          </a:xfrm>
        </p:spPr>
      </p:pic>
    </p:spTree>
    <p:extLst>
      <p:ext uri="{BB962C8B-B14F-4D97-AF65-F5344CB8AC3E}">
        <p14:creationId xmlns:p14="http://schemas.microsoft.com/office/powerpoint/2010/main" val="12032426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B6EF7-E90F-C03E-0639-33F75ACF4D5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56268D3-40B1-CE8D-68F0-3A4A1D0BC9A6}"/>
              </a:ext>
            </a:extLst>
          </p:cNvPr>
          <p:cNvSpPr>
            <a:spLocks noGrp="1"/>
          </p:cNvSpPr>
          <p:nvPr>
            <p:ph type="title"/>
          </p:nvPr>
        </p:nvSpPr>
        <p:spPr/>
        <p:txBody>
          <a:bodyPr>
            <a:normAutofit fontScale="90000"/>
          </a:bodyPr>
          <a:lstStyle/>
          <a:p>
            <a:pPr algn="ctr"/>
            <a:r>
              <a:rPr lang="it-IT" dirty="0"/>
              <a:t>SEQUENCE DIAGRAM – CARICAMENTO DETTAGLIO ASTA</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9516FA46-E1A4-0709-501F-8E0CFFC7BC29}"/>
              </a:ext>
            </a:extLst>
          </p:cNvPr>
          <p:cNvPicPr>
            <a:picLocks noGrp="1" noChangeAspect="1"/>
          </p:cNvPicPr>
          <p:nvPr>
            <p:ph idx="1"/>
          </p:nvPr>
        </p:nvPicPr>
        <p:blipFill>
          <a:blip r:embed="rId2"/>
          <a:stretch>
            <a:fillRect/>
          </a:stretch>
        </p:blipFill>
        <p:spPr>
          <a:xfrm>
            <a:off x="1860238" y="2043659"/>
            <a:ext cx="8437153" cy="4066195"/>
          </a:xfrm>
        </p:spPr>
      </p:pic>
    </p:spTree>
    <p:extLst>
      <p:ext uri="{BB962C8B-B14F-4D97-AF65-F5344CB8AC3E}">
        <p14:creationId xmlns:p14="http://schemas.microsoft.com/office/powerpoint/2010/main" val="2457930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3DD91-D270-A745-4170-FEF9B69E0C0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122CB3C-0A15-7C60-8443-F44CC5ED59A6}"/>
              </a:ext>
            </a:extLst>
          </p:cNvPr>
          <p:cNvSpPr>
            <a:spLocks noGrp="1"/>
          </p:cNvSpPr>
          <p:nvPr>
            <p:ph type="title"/>
          </p:nvPr>
        </p:nvSpPr>
        <p:spPr/>
        <p:txBody>
          <a:bodyPr/>
          <a:lstStyle/>
          <a:p>
            <a:pPr algn="ctr"/>
            <a:r>
              <a:rPr lang="it-IT" dirty="0"/>
              <a:t>SEQUENCE DIAGRAM – AGGIUNGI ARTICOLO</a:t>
            </a:r>
          </a:p>
        </p:txBody>
      </p:sp>
      <p:pic>
        <p:nvPicPr>
          <p:cNvPr id="5" name="Segnaposto contenuto 4" descr="Immagine che contiene testo, schermata, diagramma, linea&#10;&#10;Il contenuto generato dall'IA potrebbe non essere corretto.">
            <a:extLst>
              <a:ext uri="{FF2B5EF4-FFF2-40B4-BE49-F238E27FC236}">
                <a16:creationId xmlns:a16="http://schemas.microsoft.com/office/drawing/2014/main" id="{123E8D6E-713A-5AC7-9BAD-41AB27C67420}"/>
              </a:ext>
            </a:extLst>
          </p:cNvPr>
          <p:cNvPicPr>
            <a:picLocks noGrp="1" noChangeAspect="1"/>
          </p:cNvPicPr>
          <p:nvPr>
            <p:ph idx="1"/>
          </p:nvPr>
        </p:nvPicPr>
        <p:blipFill>
          <a:blip r:embed="rId2"/>
          <a:stretch>
            <a:fillRect/>
          </a:stretch>
        </p:blipFill>
        <p:spPr>
          <a:xfrm>
            <a:off x="700634" y="1614698"/>
            <a:ext cx="10691265" cy="4955500"/>
          </a:xfrm>
        </p:spPr>
      </p:pic>
    </p:spTree>
    <p:extLst>
      <p:ext uri="{BB962C8B-B14F-4D97-AF65-F5344CB8AC3E}">
        <p14:creationId xmlns:p14="http://schemas.microsoft.com/office/powerpoint/2010/main" val="1349043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DB7F8-8811-C36F-605B-80E6B61B4D5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BB636B-D419-C643-EF2D-5AB5C71A0693}"/>
              </a:ext>
            </a:extLst>
          </p:cNvPr>
          <p:cNvSpPr>
            <a:spLocks noGrp="1"/>
          </p:cNvSpPr>
          <p:nvPr>
            <p:ph type="title"/>
          </p:nvPr>
        </p:nvSpPr>
        <p:spPr/>
        <p:txBody>
          <a:bodyPr/>
          <a:lstStyle/>
          <a:p>
            <a:pPr algn="ctr"/>
            <a:r>
              <a:rPr lang="it-IT" dirty="0"/>
              <a:t>SEQUENCE DIAGRAM – CREA ASTA</a:t>
            </a:r>
          </a:p>
        </p:txBody>
      </p:sp>
      <p:pic>
        <p:nvPicPr>
          <p:cNvPr id="5" name="Segnaposto contenuto 4" descr="Immagine che contiene testo, schermata, Carattere, diagramma&#10;&#10;Il contenuto generato dall'IA potrebbe non essere corretto.">
            <a:extLst>
              <a:ext uri="{FF2B5EF4-FFF2-40B4-BE49-F238E27FC236}">
                <a16:creationId xmlns:a16="http://schemas.microsoft.com/office/drawing/2014/main" id="{1E30C2F4-DFD6-FEB6-24CF-068C7DF15E8E}"/>
              </a:ext>
            </a:extLst>
          </p:cNvPr>
          <p:cNvPicPr>
            <a:picLocks noGrp="1" noChangeAspect="1"/>
          </p:cNvPicPr>
          <p:nvPr>
            <p:ph idx="1"/>
          </p:nvPr>
        </p:nvPicPr>
        <p:blipFill>
          <a:blip r:embed="rId2"/>
          <a:stretch>
            <a:fillRect/>
          </a:stretch>
        </p:blipFill>
        <p:spPr>
          <a:xfrm>
            <a:off x="2400300" y="1509102"/>
            <a:ext cx="7471063" cy="4964434"/>
          </a:xfrm>
        </p:spPr>
      </p:pic>
    </p:spTree>
    <p:extLst>
      <p:ext uri="{BB962C8B-B14F-4D97-AF65-F5344CB8AC3E}">
        <p14:creationId xmlns:p14="http://schemas.microsoft.com/office/powerpoint/2010/main" val="3736278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0ADEB-B033-7355-F48D-DA83D509F2D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E1B7A22-6764-7F1D-7CEE-C0FBB6B50C5D}"/>
              </a:ext>
            </a:extLst>
          </p:cNvPr>
          <p:cNvSpPr>
            <a:spLocks noGrp="1"/>
          </p:cNvSpPr>
          <p:nvPr>
            <p:ph type="title"/>
          </p:nvPr>
        </p:nvSpPr>
        <p:spPr/>
        <p:txBody>
          <a:bodyPr/>
          <a:lstStyle/>
          <a:p>
            <a:pPr algn="ctr"/>
            <a:r>
              <a:rPr lang="it-IT" dirty="0"/>
              <a:t>SEQUENCE DIAGRAM – CHIUDI ASTA</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54FDBB04-B578-B662-FEB7-9BAEC73A5867}"/>
              </a:ext>
            </a:extLst>
          </p:cNvPr>
          <p:cNvPicPr>
            <a:picLocks noGrp="1" noChangeAspect="1"/>
          </p:cNvPicPr>
          <p:nvPr>
            <p:ph idx="1"/>
          </p:nvPr>
        </p:nvPicPr>
        <p:blipFill>
          <a:blip r:embed="rId2"/>
          <a:stretch>
            <a:fillRect/>
          </a:stretch>
        </p:blipFill>
        <p:spPr>
          <a:xfrm>
            <a:off x="2327565" y="1567729"/>
            <a:ext cx="7658100" cy="4825867"/>
          </a:xfrm>
        </p:spPr>
      </p:pic>
    </p:spTree>
    <p:extLst>
      <p:ext uri="{BB962C8B-B14F-4D97-AF65-F5344CB8AC3E}">
        <p14:creationId xmlns:p14="http://schemas.microsoft.com/office/powerpoint/2010/main" val="9002187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FE80-BE74-AA18-DD56-A6E3F4C2BC6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C030651-BCA1-A728-15E0-106761D029EC}"/>
              </a:ext>
            </a:extLst>
          </p:cNvPr>
          <p:cNvSpPr>
            <a:spLocks noGrp="1"/>
          </p:cNvSpPr>
          <p:nvPr>
            <p:ph type="title"/>
          </p:nvPr>
        </p:nvSpPr>
        <p:spPr/>
        <p:txBody>
          <a:bodyPr/>
          <a:lstStyle/>
          <a:p>
            <a:pPr algn="ctr"/>
            <a:r>
              <a:rPr lang="it-IT" dirty="0"/>
              <a:t>SEQUENCE DIAGRAM – FAI OFFERTA</a:t>
            </a:r>
          </a:p>
        </p:txBody>
      </p:sp>
      <p:pic>
        <p:nvPicPr>
          <p:cNvPr id="5" name="Segnaposto contenuto 4" descr="Immagine che contiene testo, schermata, numero, Carattere&#10;&#10;Il contenuto generato dall'IA potrebbe non essere corretto.">
            <a:extLst>
              <a:ext uri="{FF2B5EF4-FFF2-40B4-BE49-F238E27FC236}">
                <a16:creationId xmlns:a16="http://schemas.microsoft.com/office/drawing/2014/main" id="{C1C89FC0-7B07-A877-D1F8-AB86DFFDE56F}"/>
              </a:ext>
            </a:extLst>
          </p:cNvPr>
          <p:cNvPicPr>
            <a:picLocks noGrp="1" noChangeAspect="1"/>
          </p:cNvPicPr>
          <p:nvPr>
            <p:ph idx="1"/>
          </p:nvPr>
        </p:nvPicPr>
        <p:blipFill>
          <a:blip r:embed="rId2"/>
          <a:stretch>
            <a:fillRect/>
          </a:stretch>
        </p:blipFill>
        <p:spPr>
          <a:xfrm>
            <a:off x="1569027" y="1696697"/>
            <a:ext cx="9227128" cy="4653963"/>
          </a:xfrm>
        </p:spPr>
      </p:pic>
    </p:spTree>
    <p:extLst>
      <p:ext uri="{BB962C8B-B14F-4D97-AF65-F5344CB8AC3E}">
        <p14:creationId xmlns:p14="http://schemas.microsoft.com/office/powerpoint/2010/main" val="2474054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56A0-31C6-C039-DDC3-F94A93D764A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1454DE5-8B62-B30F-4486-2DE1F78257E5}"/>
              </a:ext>
            </a:extLst>
          </p:cNvPr>
          <p:cNvSpPr>
            <a:spLocks noGrp="1"/>
          </p:cNvSpPr>
          <p:nvPr>
            <p:ph type="title"/>
          </p:nvPr>
        </p:nvSpPr>
        <p:spPr/>
        <p:txBody>
          <a:bodyPr/>
          <a:lstStyle/>
          <a:p>
            <a:pPr algn="ctr"/>
            <a:r>
              <a:rPr lang="it-IT" dirty="0"/>
              <a:t>SEQUENCE DIAGRAM – SEARCH ASTE BY KEY</a:t>
            </a:r>
          </a:p>
        </p:txBody>
      </p:sp>
      <p:pic>
        <p:nvPicPr>
          <p:cNvPr id="5" name="Segnaposto contenuto 4" descr="Immagine che contiene testo, schermata, diagramma, linea&#10;&#10;Il contenuto generato dall'IA potrebbe non essere corretto.">
            <a:extLst>
              <a:ext uri="{FF2B5EF4-FFF2-40B4-BE49-F238E27FC236}">
                <a16:creationId xmlns:a16="http://schemas.microsoft.com/office/drawing/2014/main" id="{42BE1DA9-60DB-C1D6-0009-B605B5717F60}"/>
              </a:ext>
            </a:extLst>
          </p:cNvPr>
          <p:cNvPicPr>
            <a:picLocks noGrp="1" noChangeAspect="1"/>
          </p:cNvPicPr>
          <p:nvPr>
            <p:ph idx="1"/>
          </p:nvPr>
        </p:nvPicPr>
        <p:blipFill>
          <a:blip r:embed="rId2"/>
          <a:stretch>
            <a:fillRect/>
          </a:stretch>
        </p:blipFill>
        <p:spPr>
          <a:xfrm>
            <a:off x="1350464" y="1808017"/>
            <a:ext cx="9728041" cy="4416137"/>
          </a:xfrm>
        </p:spPr>
      </p:pic>
    </p:spTree>
    <p:extLst>
      <p:ext uri="{BB962C8B-B14F-4D97-AF65-F5344CB8AC3E}">
        <p14:creationId xmlns:p14="http://schemas.microsoft.com/office/powerpoint/2010/main" val="129748083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265</TotalTime>
  <Words>2281</Words>
  <Application>Microsoft Office PowerPoint</Application>
  <PresentationFormat>Widescreen</PresentationFormat>
  <Paragraphs>177</Paragraphs>
  <Slides>43</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43</vt:i4>
      </vt:variant>
    </vt:vector>
  </HeadingPairs>
  <TitlesOfParts>
    <vt:vector size="50" baseType="lpstr">
      <vt:lpstr>Arial</vt:lpstr>
      <vt:lpstr>Arial Unicode MS</vt:lpstr>
      <vt:lpstr>Calisto MT</vt:lpstr>
      <vt:lpstr>Courier New</vt:lpstr>
      <vt:lpstr>Univers Condensed</vt:lpstr>
      <vt:lpstr>Wingdings</vt:lpstr>
      <vt:lpstr>ChronicleVTI</vt:lpstr>
      <vt:lpstr>Tecnologie informatiche per il web</vt:lpstr>
      <vt:lpstr>Analisi dei dati</vt:lpstr>
      <vt:lpstr>Presentazione standard di PowerPoint</vt:lpstr>
      <vt:lpstr>Presentazione standard di PowerPoint</vt:lpstr>
      <vt:lpstr>Presentazione standard di PowerPoint</vt:lpstr>
      <vt:lpstr>Database design</vt:lpstr>
      <vt:lpstr>Database design</vt:lpstr>
      <vt:lpstr>Application requirements analysis</vt:lpstr>
      <vt:lpstr>Presentazione standard di PowerPoint</vt:lpstr>
      <vt:lpstr>Presentazione standard di PowerPoint</vt:lpstr>
      <vt:lpstr>Presentazione standard di PowerPoint</vt:lpstr>
      <vt:lpstr>Completamento delle specifiche</vt:lpstr>
      <vt:lpstr>Application design</vt:lpstr>
      <vt:lpstr>Application design</vt:lpstr>
      <vt:lpstr>Application design</vt:lpstr>
      <vt:lpstr>Application design</vt:lpstr>
      <vt:lpstr>Application design</vt:lpstr>
      <vt:lpstr>Application design</vt:lpstr>
      <vt:lpstr>Componenti – server side</vt:lpstr>
      <vt:lpstr>Componenti – client side</vt:lpstr>
      <vt:lpstr>SEQUENCE DIAGRAM – HTML - SIGNUP</vt:lpstr>
      <vt:lpstr>SEQUENCE DIAGRAM - LOGIN</vt:lpstr>
      <vt:lpstr>SEQUENCE DIAGRAM - LOGOUT</vt:lpstr>
      <vt:lpstr>SEQUENCE DIAGRAM – GO TO HOME</vt:lpstr>
      <vt:lpstr>SEQUENCE DIAGRAM – GO TO OFFERTA</vt:lpstr>
      <vt:lpstr>SEQUENCE DIAGRAM – GO TO VENDO</vt:lpstr>
      <vt:lpstr>SEQUENCE DIAGRAM – GO TO ACQUISTO</vt:lpstr>
      <vt:lpstr>SEQUENCE DIAGRAM – GO TO DETTAGLIO ASTA</vt:lpstr>
      <vt:lpstr>SEQUENCE DIAGRAM – SEARCH ASTE BY KEY </vt:lpstr>
      <vt:lpstr>SEQUENCE DIAGRAM – FAI OFFERTA</vt:lpstr>
      <vt:lpstr>SEQUENCE DIAGRAM – CREA ASTA</vt:lpstr>
      <vt:lpstr>SEQUENCE DIAGRAM – CHIUDI ASTA</vt:lpstr>
      <vt:lpstr>SEQUENCE DIAGRAM – AGGIUNGI ARTICOLO</vt:lpstr>
      <vt:lpstr>SEQUENCE DIAGRAM – RIA – CARICAMENTO HOME</vt:lpstr>
      <vt:lpstr>SEQUENCE DIAGRAM – CARICAMENTO ACQUISTO</vt:lpstr>
      <vt:lpstr>SEQUENCE DIAGRAM – CARICAMENTO VENDO</vt:lpstr>
      <vt:lpstr>SEQUENCE DIAGRAM – CARICAMENTO OFFERTA</vt:lpstr>
      <vt:lpstr>SEQUENCE DIAGRAM – CARICAMENTO DETTAGLIO ASTA</vt:lpstr>
      <vt:lpstr>SEQUENCE DIAGRAM – AGGIUNGI ARTICOLO</vt:lpstr>
      <vt:lpstr>SEQUENCE DIAGRAM – CREA ASTA</vt:lpstr>
      <vt:lpstr>SEQUENCE DIAGRAM – CHIUDI ASTA</vt:lpstr>
      <vt:lpstr>SEQUENCE DIAGRAM – FAI OFFERTA</vt:lpstr>
      <vt:lpstr>SEQUENCE DIAGRAM – SEARCH ASTE BY KEY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Nicolò Spuri</dc:creator>
  <cp:lastModifiedBy>Lorenzo Marc Baud</cp:lastModifiedBy>
  <cp:revision>6</cp:revision>
  <dcterms:created xsi:type="dcterms:W3CDTF">2025-08-24T09:00:51Z</dcterms:created>
  <dcterms:modified xsi:type="dcterms:W3CDTF">2025-08-24T16:39:06Z</dcterms:modified>
</cp:coreProperties>
</file>